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8"/>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Restaurants</c:v>
                </c:pt>
              </c:strCache>
            </c:strRef>
          </c:tx>
          <c:spPr>
            <a:solidFill>
              <a:srgbClr val="B8C2E8"/>
            </a:solidFill>
            <a:effectLst/>
          </c:spPr>
          <c:invertIfNegative val="0"/>
          <c:dLbls>
            <c:numFmt formatCode="#,##0" sourceLinked="0"/>
            <c:txPr>
              <a:bodyPr/>
              <a:lstStyle/>
              <a:p>
                <a:pPr>
                  <a:defRPr b="1" i="0" strike="noStrike" sz="1150" u="none">
                    <a:solidFill>
                      <a:srgbClr val="232C5E"/>
                    </a:solidFill>
                    <a:latin typeface="Calibri"/>
                  </a:defRPr>
                </a:pPr>
              </a:p>
            </c:txPr>
            <c:showLegendKey val="0"/>
            <c:showVal val="1"/>
            <c:showCatName val="0"/>
            <c:showSerName val="0"/>
            <c:showPercent val="0"/>
            <c:showBubbleSize val="0"/>
            <c:showLeaderLines val="0"/>
          </c:dLbls>
          <c:dPt>
            <c:idx val="0"/>
            <c:invertIfNegative val="0"/>
            <c:bubble3D val="0"/>
            <c:spPr>
              <a:solidFill>
                <a:srgbClr val="B8C2E8"/>
              </a:solidFill>
              <a:effectLst/>
            </c:spPr>
          </c:dPt>
          <c:dPt>
            <c:idx val="1"/>
            <c:invertIfNegative val="0"/>
            <c:bubble3D val="0"/>
            <c:spPr>
              <a:solidFill>
                <a:srgbClr val="B8C2E8"/>
              </a:solidFill>
              <a:effectLst/>
            </c:spPr>
          </c:dPt>
          <c:dPt>
            <c:idx val="2"/>
            <c:invertIfNegative val="0"/>
            <c:bubble3D val="0"/>
            <c:spPr>
              <a:solidFill>
                <a:srgbClr val="B8C2E8"/>
              </a:solidFill>
              <a:effectLst/>
            </c:spPr>
          </c:dPt>
          <c:dPt>
            <c:idx val="3"/>
            <c:invertIfNegative val="0"/>
            <c:bubble3D val="0"/>
            <c:spPr>
              <a:solidFill>
                <a:srgbClr val="B8C2E8"/>
              </a:solidFill>
              <a:effectLst/>
            </c:spPr>
          </c:dPt>
          <c:dPt>
            <c:idx val="4"/>
            <c:invertIfNegative val="0"/>
            <c:bubble3D val="0"/>
            <c:spPr>
              <a:solidFill>
                <a:srgbClr val="F96167"/>
              </a:solidFill>
              <a:effectLst/>
            </c:spPr>
          </c:dPt>
          <c:dPt>
            <c:idx val="5"/>
            <c:invertIfNegative val="0"/>
            <c:bubble3D val="0"/>
            <c:spPr>
              <a:solidFill>
                <a:srgbClr val="F96167"/>
              </a:solidFill>
              <a:effectLst/>
            </c:spPr>
          </c:dPt>
          <c:dPt>
            <c:idx val="6"/>
            <c:invertIfNegative val="0"/>
            <c:bubble3D val="0"/>
            <c:spPr>
              <a:solidFill>
                <a:srgbClr val="F96167"/>
              </a:solidFill>
              <a:effectLst/>
            </c:spPr>
          </c:dPt>
          <c:cat>
            <c:multiLvlStrRef>
              <c:f>Sheet1!$A$2:$A$8</c:f>
              <c:multiLvlStrCache>
                <c:ptCount val="7"/>
                <c:lvl>
                  <c:pt idx="0">
                    <c:v>India</c:v>
                  </c:pt>
                  <c:pt idx="1">
                    <c:v>USA</c:v>
                  </c:pt>
                  <c:pt idx="2">
                    <c:v>UK</c:v>
                  </c:pt>
                  <c:pt idx="3">
                    <c:v>UAE</c:v>
                  </c:pt>
                  <c:pt idx="4">
                    <c:v>Turkey</c:v>
                  </c:pt>
                  <c:pt idx="5">
                    <c:v>Philippines</c:v>
                  </c:pt>
                  <c:pt idx="6">
                    <c:v>New Zealand</c:v>
                  </c:pt>
                </c:lvl>
              </c:multiLvlStrCache>
            </c:multiLvlStrRef>
          </c:cat>
          <c:val>
            <c:numRef>
              <c:f>Sheet1!$B$2:$B$8</c:f>
              <c:numCache>
                <c:formatCode>General</c:formatCode>
                <c:ptCount val="7"/>
                <c:pt idx="0">
                  <c:v>8652</c:v>
                </c:pt>
                <c:pt idx="1">
                  <c:v>434</c:v>
                </c:pt>
                <c:pt idx="2">
                  <c:v>161</c:v>
                </c:pt>
                <c:pt idx="3">
                  <c:v>60</c:v>
                </c:pt>
                <c:pt idx="4">
                  <c:v>34</c:v>
                </c:pt>
                <c:pt idx="5">
                  <c:v>31</c:v>
                </c:pt>
                <c:pt idx="6">
                  <c:v>25</c:v>
                </c:pt>
              </c:numCache>
            </c:numRef>
          </c:val>
        </c:ser>
        <c:dLbls>
          <c:numFmt formatCode="#,##0" sourceLinked="0"/>
          <c:txPr>
            <a:bodyPr/>
            <a:lstStyle/>
            <a:p>
              <a:pPr>
                <a:defRPr b="1" i="0" strike="noStrike" sz="1150" u="none">
                  <a:solidFill>
                    <a:srgbClr val="232C5E"/>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DE6D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Rating</c:v>
                </c:pt>
              </c:strCache>
            </c:strRef>
          </c:tx>
          <c:spPr>
            <a:solidFill>
              <a:srgbClr val="F96167"/>
            </a:solidFill>
            <a:effectLst/>
          </c:spPr>
          <c:invertIfNegative val="0"/>
          <c:dLbls>
            <c:numFmt formatCode="0.0" sourceLinked="0"/>
            <c:txPr>
              <a:bodyPr/>
              <a:lstStyle/>
              <a:p>
                <a:pPr>
                  <a:defRPr b="1" i="0" strike="noStrike" sz="1150" u="none">
                    <a:solidFill>
                      <a:srgbClr val="232C5E"/>
                    </a:solidFill>
                    <a:latin typeface="Calibri"/>
                  </a:defRPr>
                </a:pPr>
              </a:p>
            </c:txPr>
            <c:showLegendKey val="0"/>
            <c:showVal val="1"/>
            <c:showCatName val="0"/>
            <c:showSerName val="0"/>
            <c:showPercent val="0"/>
            <c:showBubbleSize val="0"/>
            <c:showLeaderLines val="0"/>
          </c:dLbls>
          <c:dPt>
            <c:idx val="0"/>
            <c:invertIfNegative val="0"/>
            <c:bubble3D val="0"/>
            <c:spPr>
              <a:solidFill>
                <a:srgbClr val="F96167"/>
              </a:solidFill>
              <a:effectLst/>
            </c:spPr>
          </c:dPt>
          <c:dPt>
            <c:idx val="1"/>
            <c:invertIfNegative val="0"/>
            <c:bubble3D val="0"/>
            <c:spPr>
              <a:solidFill>
                <a:srgbClr val="F96167"/>
              </a:solidFill>
              <a:effectLst/>
            </c:spPr>
          </c:dPt>
          <c:dPt>
            <c:idx val="2"/>
            <c:invertIfNegative val="0"/>
            <c:bubble3D val="0"/>
            <c:spPr>
              <a:solidFill>
                <a:srgbClr val="F96167"/>
              </a:solidFill>
              <a:effectLst/>
            </c:spPr>
          </c:dPt>
          <c:dPt>
            <c:idx val="3"/>
            <c:invertIfNegative val="0"/>
            <c:bubble3D val="0"/>
            <c:spPr>
              <a:solidFill>
                <a:srgbClr val="B8C2E8"/>
              </a:solidFill>
              <a:effectLst/>
            </c:spPr>
          </c:dPt>
          <c:cat>
            <c:multiLvlStrRef>
              <c:f>Sheet1!$A$2:$A$5</c:f>
              <c:multiLvlStrCache>
                <c:ptCount val="4"/>
                <c:lvl>
                  <c:pt idx="0">
                    <c:v>Philippines</c:v>
                  </c:pt>
                  <c:pt idx="1">
                    <c:v>Turkey</c:v>
                  </c:pt>
                  <c:pt idx="2">
                    <c:v>New Zealand</c:v>
                  </c:pt>
                  <c:pt idx="3">
                    <c:v>Global Avg</c:v>
                  </c:pt>
                </c:lvl>
              </c:multiLvlStrCache>
            </c:multiLvlStrRef>
          </c:cat>
          <c:val>
            <c:numRef>
              <c:f>Sheet1!$B$2:$B$5</c:f>
              <c:numCache>
                <c:formatCode>General</c:formatCode>
                <c:ptCount val="4"/>
                <c:pt idx="0">
                  <c:v>4.5</c:v>
                </c:pt>
                <c:pt idx="1">
                  <c:v>4.2</c:v>
                </c:pt>
                <c:pt idx="2">
                  <c:v>4.1</c:v>
                </c:pt>
                <c:pt idx="3">
                  <c:v>3.7</c:v>
                </c:pt>
              </c:numCache>
            </c:numRef>
          </c:val>
        </c:ser>
        <c:dLbls>
          <c:numFmt formatCode="0.0" sourceLinked="0"/>
          <c:txPr>
            <a:bodyPr/>
            <a:lstStyle/>
            <a:p>
              <a:pPr>
                <a:defRPr b="1" i="0" strike="noStrike" sz="1150" u="none">
                  <a:solidFill>
                    <a:srgbClr val="232C5E"/>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EDE6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Cost (INR)</c:v>
                </c:pt>
              </c:strCache>
            </c:strRef>
          </c:tx>
          <c:spPr>
            <a:solidFill>
              <a:srgbClr val="F9E795"/>
            </a:solidFill>
            <a:effectLst/>
          </c:spPr>
          <c:invertIfNegative val="0"/>
          <c:dLbls>
            <c:numFmt formatCode="&quot;₹&quot;#,##0" sourceLinked="0"/>
            <c:txPr>
              <a:bodyPr/>
              <a:lstStyle/>
              <a:p>
                <a:pPr>
                  <a:defRPr b="1" i="0" strike="noStrike" sz="1150" u="none">
                    <a:solidFill>
                      <a:srgbClr val="232C5E"/>
                    </a:solidFill>
                    <a:latin typeface="Calibri"/>
                  </a:defRPr>
                </a:pPr>
              </a:p>
            </c:txPr>
            <c:showLegendKey val="0"/>
            <c:showVal val="1"/>
            <c:showCatName val="0"/>
            <c:showSerName val="0"/>
            <c:showPercent val="0"/>
            <c:showBubbleSize val="0"/>
            <c:showLeaderLines val="0"/>
          </c:dLbls>
          <c:dPt>
            <c:idx val="0"/>
            <c:invertIfNegative val="0"/>
            <c:bubble3D val="0"/>
            <c:spPr>
              <a:solidFill>
                <a:srgbClr val="F9E795"/>
              </a:solidFill>
              <a:effectLst/>
            </c:spPr>
          </c:dPt>
          <c:dPt>
            <c:idx val="1"/>
            <c:invertIfNegative val="0"/>
            <c:bubble3D val="0"/>
            <c:spPr>
              <a:solidFill>
                <a:srgbClr val="F96167"/>
              </a:solidFill>
              <a:effectLst/>
            </c:spPr>
          </c:dPt>
          <c:dPt>
            <c:idx val="2"/>
            <c:invertIfNegative val="0"/>
            <c:bubble3D val="0"/>
            <c:spPr>
              <a:solidFill>
                <a:srgbClr val="2F3C7E"/>
              </a:solidFill>
              <a:effectLst/>
            </c:spPr>
          </c:dPt>
          <c:cat>
            <c:multiLvlStrRef>
              <c:f>Sheet1!$A$2:$A$4</c:f>
              <c:multiLvlStrCache>
                <c:ptCount val="3"/>
                <c:lvl>
                  <c:pt idx="0">
                    <c:v>Turkey</c:v>
                  </c:pt>
                  <c:pt idx="1">
                    <c:v>Philippines</c:v>
                  </c:pt>
                  <c:pt idx="2">
                    <c:v>New Zealand</c:v>
                  </c:pt>
                </c:lvl>
              </c:multiLvlStrCache>
            </c:multiLvlStrRef>
          </c:cat>
          <c:val>
            <c:numRef>
              <c:f>Sheet1!$B$2:$B$4</c:f>
              <c:numCache>
                <c:formatCode>General</c:formatCode>
                <c:ptCount val="3"/>
                <c:pt idx="0">
                  <c:v>950</c:v>
                </c:pt>
                <c:pt idx="1">
                  <c:v>1450</c:v>
                </c:pt>
                <c:pt idx="2">
                  <c:v>2300</c:v>
                </c:pt>
              </c:numCache>
            </c:numRef>
          </c:val>
        </c:ser>
        <c:dLbls>
          <c:numFmt formatCode="&quot;₹&quot;#,##0" sourceLinked="0"/>
          <c:txPr>
            <a:bodyPr/>
            <a:lstStyle/>
            <a:p>
              <a:pPr>
                <a:defRPr b="1" i="0" strike="noStrike" sz="1150" u="none">
                  <a:solidFill>
                    <a:srgbClr val="232C5E"/>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DE6DD"/>
              </a:solidFill>
              <a:prstDash val="solid"/>
              <a:round/>
            </a:ln>
          </c:spPr>
        </c:majorGridlines>
        <c:numFmt formatCode="&quot;₹&quot;#,##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Rating</c:v>
                </c:pt>
              </c:strCache>
            </c:strRef>
          </c:tx>
          <c:spPr>
            <a:solidFill>
              <a:srgbClr val="F96167"/>
            </a:solidFill>
            <a:effectLst/>
          </c:spPr>
          <c:invertIfNegative val="0"/>
          <c:dLbls>
            <c:numFmt formatCode="0.00" sourceLinked="0"/>
            <c:txPr>
              <a:bodyPr/>
              <a:lstStyle/>
              <a:p>
                <a:pPr>
                  <a:defRPr b="1" i="0" strike="noStrike" sz="1150" u="none">
                    <a:solidFill>
                      <a:srgbClr val="232C5E"/>
                    </a:solidFill>
                    <a:latin typeface="Calibri"/>
                  </a:defRPr>
                </a:pPr>
              </a:p>
            </c:txPr>
            <c:showLegendKey val="0"/>
            <c:showVal val="1"/>
            <c:showCatName val="0"/>
            <c:showSerName val="0"/>
            <c:showPercent val="0"/>
            <c:showBubbleSize val="0"/>
            <c:showLeaderLines val="0"/>
          </c:dLbls>
          <c:dPt>
            <c:idx val="0"/>
            <c:invertIfNegative val="0"/>
            <c:bubble3D val="0"/>
            <c:spPr>
              <a:solidFill>
                <a:srgbClr val="F96167"/>
              </a:solidFill>
              <a:effectLst/>
            </c:spPr>
          </c:dPt>
          <c:dPt>
            <c:idx val="1"/>
            <c:invertIfNegative val="0"/>
            <c:bubble3D val="0"/>
            <c:spPr>
              <a:solidFill>
                <a:srgbClr val="B8C2E8"/>
              </a:solidFill>
              <a:effectLst/>
            </c:spPr>
          </c:dPt>
          <c:cat>
            <c:multiLvlStrRef>
              <c:f>Sheet1!$A$2:$A$3</c:f>
              <c:multiLvlStrCache>
                <c:ptCount val="2"/>
                <c:lvl>
                  <c:pt idx="0">
                    <c:v>Delivery Enabled</c:v>
                  </c:pt>
                  <c:pt idx="1">
                    <c:v>No Delivery</c:v>
                  </c:pt>
                </c:lvl>
              </c:multiLvlStrCache>
            </c:multiLvlStrRef>
          </c:cat>
          <c:val>
            <c:numRef>
              <c:f>Sheet1!$B$2:$B$3</c:f>
              <c:numCache>
                <c:formatCode>General</c:formatCode>
                <c:ptCount val="2"/>
                <c:pt idx="0">
                  <c:v>4.15</c:v>
                </c:pt>
                <c:pt idx="1">
                  <c:v>3.42</c:v>
                </c:pt>
              </c:numCache>
            </c:numRef>
          </c:val>
        </c:ser>
        <c:dLbls>
          <c:numFmt formatCode="0.00" sourceLinked="0"/>
          <c:txPr>
            <a:bodyPr/>
            <a:lstStyle/>
            <a:p>
              <a:pPr>
                <a:defRPr b="1" i="0" strike="noStrike" sz="1150" u="none">
                  <a:solidFill>
                    <a:srgbClr val="232C5E"/>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EDE6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Rating</c:v>
                </c:pt>
              </c:strCache>
            </c:strRef>
          </c:tx>
          <c:spPr>
            <a:solidFill>
              <a:srgbClr val="F96167"/>
            </a:solidFill>
            <a:effectLst/>
          </c:spPr>
          <c:invertIfNegative val="0"/>
          <c:dLbls>
            <c:numFmt formatCode="0.00" sourceLinked="0"/>
            <c:txPr>
              <a:bodyPr/>
              <a:lstStyle/>
              <a:p>
                <a:pPr>
                  <a:defRPr b="1" i="0" strike="noStrike" sz="1150" u="none">
                    <a:solidFill>
                      <a:srgbClr val="232C5E"/>
                    </a:solidFill>
                    <a:latin typeface="Calibri"/>
                  </a:defRPr>
                </a:pPr>
              </a:p>
            </c:txPr>
            <c:showLegendKey val="0"/>
            <c:showVal val="1"/>
            <c:showCatName val="0"/>
            <c:showSerName val="0"/>
            <c:showPercent val="0"/>
            <c:showBubbleSize val="0"/>
            <c:showLeaderLines val="0"/>
          </c:dLbls>
          <c:dPt>
            <c:idx val="0"/>
            <c:invertIfNegative val="0"/>
            <c:bubble3D val="0"/>
            <c:spPr>
              <a:solidFill>
                <a:srgbClr val="F96167"/>
              </a:solidFill>
              <a:effectLst/>
            </c:spPr>
          </c:dPt>
          <c:dPt>
            <c:idx val="1"/>
            <c:invertIfNegative val="0"/>
            <c:bubble3D val="0"/>
            <c:spPr>
              <a:solidFill>
                <a:srgbClr val="B8C2E8"/>
              </a:solidFill>
              <a:effectLst/>
            </c:spPr>
          </c:dPt>
          <c:cat>
            <c:multiLvlStrRef>
              <c:f>Sheet1!$A$2:$A$3</c:f>
              <c:multiLvlStrCache>
                <c:ptCount val="2"/>
                <c:lvl>
                  <c:pt idx="0">
                    <c:v>Table Booking Available</c:v>
                  </c:pt>
                  <c:pt idx="1">
                    <c:v>Not Available</c:v>
                  </c:pt>
                </c:lvl>
              </c:multiLvlStrCache>
            </c:multiLvlStrRef>
          </c:cat>
          <c:val>
            <c:numRef>
              <c:f>Sheet1!$B$2:$B$3</c:f>
              <c:numCache>
                <c:formatCode>General</c:formatCode>
                <c:ptCount val="2"/>
                <c:pt idx="0">
                  <c:v>4.3</c:v>
                </c:pt>
                <c:pt idx="1">
                  <c:v>3.55</c:v>
                </c:pt>
              </c:numCache>
            </c:numRef>
          </c:val>
        </c:ser>
        <c:dLbls>
          <c:numFmt formatCode="0.00" sourceLinked="0"/>
          <c:txPr>
            <a:bodyPr/>
            <a:lstStyle/>
            <a:p>
              <a:pPr>
                <a:defRPr b="1" i="0" strike="noStrike" sz="1150" u="none">
                  <a:solidFill>
                    <a:srgbClr val="232C5E"/>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EDE6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Avg Rating</c:v>
                </c:pt>
              </c:strCache>
            </c:strRef>
          </c:tx>
          <c:spPr>
            <a:solidFill>
              <a:srgbClr val="F96167"/>
            </a:solidFill>
            <a:effectLst/>
          </c:spPr>
          <c:invertIfNegative val="0"/>
          <c:dLbls>
            <c:numFmt formatCode="0.0" sourceLinked="0"/>
            <c:txPr>
              <a:bodyPr/>
              <a:lstStyle/>
              <a:p>
                <a:pPr>
                  <a:defRPr b="1" i="0" strike="noStrike" sz="1150" u="none">
                    <a:solidFill>
                      <a:srgbClr val="232C5E"/>
                    </a:solidFill>
                    <a:latin typeface="Calibri"/>
                  </a:defRPr>
                </a:pPr>
              </a:p>
            </c:txPr>
            <c:showLegendKey val="0"/>
            <c:showVal val="1"/>
            <c:showCatName val="0"/>
            <c:showSerName val="0"/>
            <c:showPercent val="0"/>
            <c:showBubbleSize val="0"/>
            <c:showLeaderLines val="0"/>
          </c:dLbls>
          <c:dPt>
            <c:idx val="0"/>
            <c:invertIfNegative val="0"/>
            <c:bubble3D val="0"/>
            <c:spPr>
              <a:solidFill>
                <a:srgbClr val="F96167"/>
              </a:solidFill>
              <a:effectLst/>
            </c:spPr>
          </c:dPt>
          <c:dPt>
            <c:idx val="1"/>
            <c:invertIfNegative val="0"/>
            <c:bubble3D val="0"/>
            <c:spPr>
              <a:solidFill>
                <a:srgbClr val="F96167"/>
              </a:solidFill>
              <a:effectLst/>
            </c:spPr>
          </c:dPt>
          <c:dPt>
            <c:idx val="2"/>
            <c:invertIfNegative val="0"/>
            <c:bubble3D val="0"/>
            <c:spPr>
              <a:solidFill>
                <a:srgbClr val="F96167"/>
              </a:solidFill>
              <a:effectLst/>
            </c:spPr>
          </c:dPt>
          <c:dPt>
            <c:idx val="3"/>
            <c:invertIfNegative val="0"/>
            <c:bubble3D val="0"/>
            <c:spPr>
              <a:solidFill>
                <a:srgbClr val="B8C2E8"/>
              </a:solidFill>
              <a:effectLst/>
            </c:spPr>
          </c:dPt>
          <c:dPt>
            <c:idx val="4"/>
            <c:invertIfNegative val="0"/>
            <c:bubble3D val="0"/>
            <c:spPr>
              <a:solidFill>
                <a:srgbClr val="B8C2E8"/>
              </a:solidFill>
              <a:effectLst/>
            </c:spPr>
          </c:dPt>
          <c:cat>
            <c:multiLvlStrRef>
              <c:f>Sheet1!$A$2:$A$6</c:f>
              <c:multiLvlStrCache>
                <c:ptCount val="5"/>
                <c:lvl>
                  <c:pt idx="0">
                    <c:v>Continental</c:v>
                  </c:pt>
                  <c:pt idx="1">
                    <c:v>Italian</c:v>
                  </c:pt>
                  <c:pt idx="2">
                    <c:v>Cafe</c:v>
                  </c:pt>
                  <c:pt idx="3">
                    <c:v>Chinese</c:v>
                  </c:pt>
                  <c:pt idx="4">
                    <c:v>North Indian</c:v>
                  </c:pt>
                </c:lvl>
              </c:multiLvlStrCache>
            </c:multiLvlStrRef>
          </c:cat>
          <c:val>
            <c:numRef>
              <c:f>Sheet1!$B$2:$B$6</c:f>
              <c:numCache>
                <c:formatCode>General</c:formatCode>
                <c:ptCount val="5"/>
                <c:pt idx="0">
                  <c:v>4.3</c:v>
                </c:pt>
                <c:pt idx="1">
                  <c:v>4.2</c:v>
                </c:pt>
                <c:pt idx="2">
                  <c:v>4.1</c:v>
                </c:pt>
                <c:pt idx="3">
                  <c:v>3.8</c:v>
                </c:pt>
                <c:pt idx="4">
                  <c:v>3.3</c:v>
                </c:pt>
              </c:numCache>
            </c:numRef>
          </c:val>
        </c:ser>
        <c:dLbls>
          <c:numFmt formatCode="0.0" sourceLinked="0"/>
          <c:txPr>
            <a:bodyPr/>
            <a:lstStyle/>
            <a:p>
              <a:pPr>
                <a:defRPr b="1" i="0" strike="noStrike" sz="1150" u="none">
                  <a:solidFill>
                    <a:srgbClr val="232C5E"/>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9525" cap="flat">
              <a:solidFill>
                <a:srgbClr val="EDE6D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C5E"/>
        </a:solidFill>
      </p:bgPr>
    </p:bg>
    <p:spTree>
      <p:nvGrpSpPr>
        <p:cNvPr id="1" name=""/>
        <p:cNvGrpSpPr/>
        <p:nvPr/>
      </p:nvGrpSpPr>
      <p:grpSpPr>
        <a:xfrm>
          <a:off x="0" y="0"/>
          <a:ext cx="0" cy="0"/>
          <a:chOff x="0" y="0"/>
          <a:chExt cx="0" cy="0"/>
        </a:xfrm>
      </p:grpSpPr>
      <p:sp>
        <p:nvSpPr>
          <p:cNvPr id="2" name="Shape 0"/>
          <p:cNvSpPr/>
          <p:nvPr/>
        </p:nvSpPr>
        <p:spPr>
          <a:xfrm>
            <a:off x="9692640" y="-1463040"/>
            <a:ext cx="5029200" cy="5029200"/>
          </a:xfrm>
          <a:prstGeom prst="ellipse">
            <a:avLst/>
          </a:prstGeom>
          <a:solidFill>
            <a:srgbClr val="2F3C7E">
              <a:alpha val="65000"/>
            </a:srgbClr>
          </a:solidFill>
          <a:ln/>
        </p:spPr>
      </p:sp>
      <p:sp>
        <p:nvSpPr>
          <p:cNvPr id="3" name="Shape 1"/>
          <p:cNvSpPr/>
          <p:nvPr/>
        </p:nvSpPr>
        <p:spPr>
          <a:xfrm>
            <a:off x="10607040" y="4206240"/>
            <a:ext cx="3291840" cy="3291840"/>
          </a:xfrm>
          <a:prstGeom prst="ellipse">
            <a:avLst/>
          </a:prstGeom>
          <a:solidFill>
            <a:srgbClr val="F96167">
              <a:alpha val="22000"/>
            </a:srgbClr>
          </a:solidFill>
          <a:ln/>
        </p:spPr>
      </p:sp>
      <p:sp>
        <p:nvSpPr>
          <p:cNvPr id="4" name="Shape 2"/>
          <p:cNvSpPr/>
          <p:nvPr/>
        </p:nvSpPr>
        <p:spPr>
          <a:xfrm>
            <a:off x="-1280160" y="4846320"/>
            <a:ext cx="3108960" cy="3108960"/>
          </a:xfrm>
          <a:prstGeom prst="ellipse">
            <a:avLst/>
          </a:prstGeom>
          <a:solidFill>
            <a:srgbClr val="F9E795">
              <a:alpha val="18000"/>
            </a:srgbClr>
          </a:solidFill>
          <a:ln/>
        </p:spPr>
      </p:sp>
      <p:pic>
        <p:nvPicPr>
          <p:cNvPr id="5" name="Image 0" descr="preencoded.png"/>
          <p:cNvPicPr>
            <a:picLocks noChangeAspect="1"/>
          </p:cNvPicPr>
          <p:nvPr/>
        </p:nvPicPr>
        <p:blipFill>
          <a:blip r:embed="rId1"/>
          <a:stretch>
            <a:fillRect/>
          </a:stretch>
        </p:blipFill>
        <p:spPr>
          <a:xfrm>
            <a:off x="548640" y="2331720"/>
            <a:ext cx="502920" cy="502920"/>
          </a:xfrm>
          <a:prstGeom prst="rect">
            <a:avLst/>
          </a:prstGeom>
        </p:spPr>
      </p:pic>
      <p:sp>
        <p:nvSpPr>
          <p:cNvPr id="6" name="Text 3"/>
          <p:cNvSpPr/>
          <p:nvPr/>
        </p:nvSpPr>
        <p:spPr>
          <a:xfrm>
            <a:off x="548640" y="2971800"/>
            <a:ext cx="8229600" cy="365760"/>
          </a:xfrm>
          <a:prstGeom prst="rect">
            <a:avLst/>
          </a:prstGeom>
          <a:noFill/>
          <a:ln/>
        </p:spPr>
        <p:txBody>
          <a:bodyPr wrap="square" lIns="0" tIns="0" rIns="0" bIns="0" rtlCol="0" anchor="ctr"/>
          <a:lstStyle/>
          <a:p>
            <a:pPr indent="0" marL="0">
              <a:buNone/>
            </a:pPr>
            <a:r>
              <a:rPr lang="en-US" sz="1400" b="1" spc="300" kern="0" dirty="0">
                <a:solidFill>
                  <a:srgbClr val="F9E795"/>
                </a:solidFill>
                <a:latin typeface="Calibri" pitchFamily="34" charset="0"/>
                <a:ea typeface="Calibri" pitchFamily="34" charset="-122"/>
                <a:cs typeface="Calibri" pitchFamily="34" charset="-120"/>
              </a:rPr>
              <a:t>MARKET EXPANSION STRATEGY</a:t>
            </a:r>
            <a:endParaRPr lang="en-US" sz="1400" dirty="0"/>
          </a:p>
        </p:txBody>
      </p:sp>
      <p:sp>
        <p:nvSpPr>
          <p:cNvPr id="7" name="Text 4"/>
          <p:cNvSpPr/>
          <p:nvPr/>
        </p:nvSpPr>
        <p:spPr>
          <a:xfrm>
            <a:off x="548640" y="3310128"/>
            <a:ext cx="9601200" cy="10972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Zomato Expansion Strategy</a:t>
            </a:r>
            <a:endParaRPr lang="en-US" sz="4600" dirty="0"/>
          </a:p>
        </p:txBody>
      </p:sp>
      <p:sp>
        <p:nvSpPr>
          <p:cNvPr id="8" name="Text 5"/>
          <p:cNvSpPr/>
          <p:nvPr/>
        </p:nvSpPr>
        <p:spPr>
          <a:xfrm>
            <a:off x="548640" y="4224528"/>
            <a:ext cx="8686800" cy="54864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Data-Driven Recommendations for Identifying the Next High-Potential Markets</a:t>
            </a:r>
            <a:endParaRPr lang="en-US" sz="1700" dirty="0"/>
          </a:p>
        </p:txBody>
      </p:sp>
      <p:sp>
        <p:nvSpPr>
          <p:cNvPr id="9" name="Text 6"/>
          <p:cNvSpPr/>
          <p:nvPr/>
        </p:nvSpPr>
        <p:spPr>
          <a:xfrm>
            <a:off x="548640" y="6217920"/>
            <a:ext cx="5486400" cy="320040"/>
          </a:xfrm>
          <a:prstGeom prst="rect">
            <a:avLst/>
          </a:prstGeom>
          <a:noFill/>
          <a:ln/>
        </p:spPr>
        <p:txBody>
          <a:bodyPr wrap="square" lIns="0" tIns="0" rIns="0" bIns="0" rtlCol="0" anchor="ctr"/>
          <a:lstStyle/>
          <a:p>
            <a:pPr indent="0" marL="0">
              <a:buNone/>
            </a:pPr>
            <a:r>
              <a:rPr lang="en-US" sz="1150" dirty="0">
                <a:solidFill>
                  <a:srgbClr val="8C9BD6"/>
                </a:solidFill>
                <a:latin typeface="Calibri" pitchFamily="34" charset="0"/>
                <a:ea typeface="Calibri" pitchFamily="34" charset="-122"/>
                <a:cs typeface="Calibri" pitchFamily="34" charset="-120"/>
              </a:rPr>
              <a:t>Strategy &amp; Analytics Team   |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D9484E"/>
                </a:solidFill>
                <a:latin typeface="Calibri" pitchFamily="34" charset="0"/>
                <a:ea typeface="Calibri" pitchFamily="34" charset="-122"/>
                <a:cs typeface="Calibri" pitchFamily="34" charset="-120"/>
              </a:rPr>
              <a:t>THE CHALLENGE</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32C5E"/>
                </a:solidFill>
                <a:latin typeface="Cambria" pitchFamily="34" charset="0"/>
                <a:ea typeface="Cambria" pitchFamily="34" charset="-122"/>
                <a:cs typeface="Cambria" pitchFamily="34" charset="-120"/>
              </a:rPr>
              <a:t>Where Should Zomato Expand Next?</a:t>
            </a:r>
            <a:endParaRPr lang="en-US" sz="3000" dirty="0"/>
          </a:p>
        </p:txBody>
      </p:sp>
      <p:sp>
        <p:nvSpPr>
          <p:cNvPr id="4" name="Text 2"/>
          <p:cNvSpPr/>
          <p:nvPr/>
        </p:nvSpPr>
        <p:spPr>
          <a:xfrm>
            <a:off x="548640" y="1691640"/>
            <a:ext cx="5943600" cy="2377440"/>
          </a:xfrm>
          <a:prstGeom prst="rect">
            <a:avLst/>
          </a:prstGeom>
          <a:noFill/>
          <a:ln/>
        </p:spPr>
        <p:txBody>
          <a:bodyPr wrap="square" lIns="0" tIns="0" rIns="0" bIns="0" rtlCol="0" anchor="t"/>
          <a:lstStyle/>
          <a:p>
            <a:pPr indent="0" marL="0">
              <a:lnSpc>
                <a:spcPct val="130000"/>
              </a:lnSpc>
              <a:buNone/>
            </a:pPr>
            <a:r>
              <a:rPr lang="en-US" sz="1650" dirty="0">
                <a:solidFill>
                  <a:srgbClr val="26293D"/>
                </a:solidFill>
                <a:latin typeface="Calibri" pitchFamily="34" charset="0"/>
                <a:ea typeface="Calibri" pitchFamily="34" charset="-122"/>
                <a:cs typeface="Calibri" pitchFamily="34" charset="-120"/>
              </a:rPr>
              <a:t>Zomato operates in dense, mature markets where competition is fierce and growth is slowing. To sustain momentum, the business needs to identify new geographies that combine low competitive saturation with strong potential for high ratings, pricing power, and customer engagement.</a:t>
            </a:r>
            <a:endParaRPr lang="en-US" sz="1650" dirty="0"/>
          </a:p>
        </p:txBody>
      </p:sp>
      <p:sp>
        <p:nvSpPr>
          <p:cNvPr id="5" name="Shape 3"/>
          <p:cNvSpPr/>
          <p:nvPr/>
        </p:nvSpPr>
        <p:spPr>
          <a:xfrm>
            <a:off x="548640" y="4251960"/>
            <a:ext cx="5943600" cy="1463040"/>
          </a:xfrm>
          <a:prstGeom prst="roundRect">
            <a:avLst>
              <a:gd name="adj" fmla="val 6250"/>
            </a:avLst>
          </a:prstGeom>
          <a:solidFill>
            <a:srgbClr val="232C5E"/>
          </a:solidFill>
          <a:ln/>
          <a:effectLst>
            <a:outerShdw sx="100000" sy="100000" kx="0" ky="0" algn="bl" rotWithShape="0" blurRad="127000" dist="50800" dir="5400000">
              <a:srgbClr val="000000">
                <a:alpha val="15000"/>
              </a:srgbClr>
            </a:outerShdw>
          </a:effectLst>
        </p:spPr>
      </p:sp>
      <p:pic>
        <p:nvPicPr>
          <p:cNvPr id="6" name="Image 0" descr="preencoded.png"/>
          <p:cNvPicPr>
            <a:picLocks noChangeAspect="1"/>
          </p:cNvPicPr>
          <p:nvPr/>
        </p:nvPicPr>
        <p:blipFill>
          <a:blip r:embed="rId1"/>
          <a:stretch>
            <a:fillRect/>
          </a:stretch>
        </p:blipFill>
        <p:spPr>
          <a:xfrm>
            <a:off x="822960" y="4636008"/>
            <a:ext cx="502920" cy="502920"/>
          </a:xfrm>
          <a:prstGeom prst="rect">
            <a:avLst/>
          </a:prstGeom>
        </p:spPr>
      </p:pic>
      <p:sp>
        <p:nvSpPr>
          <p:cNvPr id="7" name="Text 4"/>
          <p:cNvSpPr/>
          <p:nvPr/>
        </p:nvSpPr>
        <p:spPr>
          <a:xfrm>
            <a:off x="1508760" y="4370832"/>
            <a:ext cx="4572000" cy="274320"/>
          </a:xfrm>
          <a:prstGeom prst="rect">
            <a:avLst/>
          </a:prstGeom>
          <a:noFill/>
          <a:ln/>
        </p:spPr>
        <p:txBody>
          <a:bodyPr wrap="square" lIns="0" tIns="0" rIns="0" bIns="0" rtlCol="0" anchor="ctr"/>
          <a:lstStyle/>
          <a:p>
            <a:pPr indent="0" marL="0">
              <a:buNone/>
            </a:pPr>
            <a:r>
              <a:rPr lang="en-US" sz="1250" b="1" spc="100" kern="0" dirty="0">
                <a:solidFill>
                  <a:srgbClr val="F9E795"/>
                </a:solidFill>
                <a:latin typeface="Calibri" pitchFamily="34" charset="0"/>
                <a:ea typeface="Calibri" pitchFamily="34" charset="-122"/>
                <a:cs typeface="Calibri" pitchFamily="34" charset="-120"/>
              </a:rPr>
              <a:t>Guiding Question</a:t>
            </a:r>
            <a:endParaRPr lang="en-US" sz="1250" dirty="0"/>
          </a:p>
        </p:txBody>
      </p:sp>
      <p:sp>
        <p:nvSpPr>
          <p:cNvPr id="8" name="Text 5"/>
          <p:cNvSpPr/>
          <p:nvPr/>
        </p:nvSpPr>
        <p:spPr>
          <a:xfrm>
            <a:off x="1508760" y="4645152"/>
            <a:ext cx="4572000" cy="960120"/>
          </a:xfrm>
          <a:prstGeom prst="rect">
            <a:avLst/>
          </a:prstGeom>
          <a:noFill/>
          <a:ln/>
        </p:spPr>
        <p:txBody>
          <a:bodyPr wrap="square" lIns="0" tIns="0" rIns="0" bIns="0" rtlCol="0" anchor="ctr"/>
          <a:lstStyle/>
          <a:p>
            <a:pPr indent="0" marL="0">
              <a:lnSpc>
                <a:spcPct val="115000"/>
              </a:lnSpc>
              <a:buNone/>
            </a:pPr>
            <a:r>
              <a:rPr lang="en-US" sz="1350" i="1" dirty="0">
                <a:solidFill>
                  <a:srgbClr val="FFFFFF"/>
                </a:solidFill>
                <a:latin typeface="Calibri" pitchFamily="34" charset="0"/>
                <a:ea typeface="Calibri" pitchFamily="34" charset="-122"/>
                <a:cs typeface="Calibri" pitchFamily="34" charset="-120"/>
              </a:rPr>
              <a:t>Which countries offer the best balance of low competition, high ratings, and strong commercial potential?</a:t>
            </a:r>
            <a:endParaRPr lang="en-US" sz="1350" dirty="0"/>
          </a:p>
        </p:txBody>
      </p:sp>
      <p:sp>
        <p:nvSpPr>
          <p:cNvPr id="9" name="Shape 6"/>
          <p:cNvSpPr/>
          <p:nvPr/>
        </p:nvSpPr>
        <p:spPr>
          <a:xfrm>
            <a:off x="6903720" y="1691640"/>
            <a:ext cx="4754880" cy="1078992"/>
          </a:xfrm>
          <a:prstGeom prst="roundRect">
            <a:avLst>
              <a:gd name="adj" fmla="val 7627"/>
            </a:avLst>
          </a:prstGeom>
          <a:solidFill>
            <a:srgbClr val="FDEDEE"/>
          </a:solidFill>
          <a:ln/>
        </p:spPr>
      </p:sp>
      <p:sp>
        <p:nvSpPr>
          <p:cNvPr id="10" name="Shape 7"/>
          <p:cNvSpPr/>
          <p:nvPr/>
        </p:nvSpPr>
        <p:spPr>
          <a:xfrm>
            <a:off x="7132320" y="1947672"/>
            <a:ext cx="566928" cy="566928"/>
          </a:xfrm>
          <a:prstGeom prst="ellipse">
            <a:avLst/>
          </a:prstGeom>
          <a:solidFill>
            <a:srgbClr val="F96167"/>
          </a:solidFill>
          <a:ln/>
        </p:spPr>
      </p:sp>
      <p:pic>
        <p:nvPicPr>
          <p:cNvPr id="11" name="Image 1" descr="preencoded.png"/>
          <p:cNvPicPr>
            <a:picLocks noChangeAspect="1"/>
          </p:cNvPicPr>
          <p:nvPr/>
        </p:nvPicPr>
        <p:blipFill>
          <a:blip r:embed="rId2"/>
          <a:stretch>
            <a:fillRect/>
          </a:stretch>
        </p:blipFill>
        <p:spPr>
          <a:xfrm>
            <a:off x="7260336" y="2075688"/>
            <a:ext cx="310896" cy="310896"/>
          </a:xfrm>
          <a:prstGeom prst="rect">
            <a:avLst/>
          </a:prstGeom>
        </p:spPr>
      </p:pic>
      <p:sp>
        <p:nvSpPr>
          <p:cNvPr id="12" name="Text 8"/>
          <p:cNvSpPr/>
          <p:nvPr/>
        </p:nvSpPr>
        <p:spPr>
          <a:xfrm>
            <a:off x="7863840" y="1837944"/>
            <a:ext cx="3657600" cy="365760"/>
          </a:xfrm>
          <a:prstGeom prst="rect">
            <a:avLst/>
          </a:prstGeom>
          <a:noFill/>
          <a:ln/>
        </p:spPr>
        <p:txBody>
          <a:bodyPr wrap="square" lIns="0" tIns="0" rIns="0" bIns="0" rtlCol="0" anchor="ctr"/>
          <a:lstStyle/>
          <a:p>
            <a:pPr indent="0" marL="0">
              <a:buNone/>
            </a:pPr>
            <a:r>
              <a:rPr lang="en-US" sz="1500" b="1" dirty="0">
                <a:solidFill>
                  <a:srgbClr val="232C5E"/>
                </a:solidFill>
                <a:latin typeface="Calibri" pitchFamily="34" charset="0"/>
                <a:ea typeface="Calibri" pitchFamily="34" charset="-122"/>
                <a:cs typeface="Calibri" pitchFamily="34" charset="-120"/>
              </a:rPr>
              <a:t>Market Saturation</a:t>
            </a:r>
            <a:endParaRPr lang="en-US" sz="1500" dirty="0"/>
          </a:p>
        </p:txBody>
      </p:sp>
      <p:sp>
        <p:nvSpPr>
          <p:cNvPr id="13" name="Text 9"/>
          <p:cNvSpPr/>
          <p:nvPr/>
        </p:nvSpPr>
        <p:spPr>
          <a:xfrm>
            <a:off x="7863840" y="2221992"/>
            <a:ext cx="3657600" cy="4114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Restaurant density per country</a:t>
            </a:r>
            <a:endParaRPr lang="en-US" sz="1200" dirty="0"/>
          </a:p>
        </p:txBody>
      </p:sp>
      <p:sp>
        <p:nvSpPr>
          <p:cNvPr id="14" name="Shape 10"/>
          <p:cNvSpPr/>
          <p:nvPr/>
        </p:nvSpPr>
        <p:spPr>
          <a:xfrm>
            <a:off x="6903720" y="2935224"/>
            <a:ext cx="4754880" cy="1078992"/>
          </a:xfrm>
          <a:prstGeom prst="roundRect">
            <a:avLst>
              <a:gd name="adj" fmla="val 7627"/>
            </a:avLst>
          </a:prstGeom>
          <a:solidFill>
            <a:srgbClr val="FDEDEE"/>
          </a:solidFill>
          <a:ln/>
        </p:spPr>
      </p:sp>
      <p:sp>
        <p:nvSpPr>
          <p:cNvPr id="15" name="Shape 11"/>
          <p:cNvSpPr/>
          <p:nvPr/>
        </p:nvSpPr>
        <p:spPr>
          <a:xfrm>
            <a:off x="7132320" y="3191256"/>
            <a:ext cx="566928" cy="566928"/>
          </a:xfrm>
          <a:prstGeom prst="ellipse">
            <a:avLst/>
          </a:prstGeom>
          <a:solidFill>
            <a:srgbClr val="F96167"/>
          </a:solidFill>
          <a:ln/>
        </p:spPr>
      </p:sp>
      <p:pic>
        <p:nvPicPr>
          <p:cNvPr id="16" name="Image 2" descr="preencoded.png"/>
          <p:cNvPicPr>
            <a:picLocks noChangeAspect="1"/>
          </p:cNvPicPr>
          <p:nvPr/>
        </p:nvPicPr>
        <p:blipFill>
          <a:blip r:embed="rId3"/>
          <a:stretch>
            <a:fillRect/>
          </a:stretch>
        </p:blipFill>
        <p:spPr>
          <a:xfrm>
            <a:off x="7260336" y="3319272"/>
            <a:ext cx="310896" cy="310896"/>
          </a:xfrm>
          <a:prstGeom prst="rect">
            <a:avLst/>
          </a:prstGeom>
        </p:spPr>
      </p:pic>
      <p:sp>
        <p:nvSpPr>
          <p:cNvPr id="17" name="Text 12"/>
          <p:cNvSpPr/>
          <p:nvPr/>
        </p:nvSpPr>
        <p:spPr>
          <a:xfrm>
            <a:off x="7863840" y="3081528"/>
            <a:ext cx="3657600" cy="365760"/>
          </a:xfrm>
          <a:prstGeom prst="rect">
            <a:avLst/>
          </a:prstGeom>
          <a:noFill/>
          <a:ln/>
        </p:spPr>
        <p:txBody>
          <a:bodyPr wrap="square" lIns="0" tIns="0" rIns="0" bIns="0" rtlCol="0" anchor="ctr"/>
          <a:lstStyle/>
          <a:p>
            <a:pPr indent="0" marL="0">
              <a:buNone/>
            </a:pPr>
            <a:r>
              <a:rPr lang="en-US" sz="1500" b="1" dirty="0">
                <a:solidFill>
                  <a:srgbClr val="232C5E"/>
                </a:solidFill>
                <a:latin typeface="Calibri" pitchFamily="34" charset="0"/>
                <a:ea typeface="Calibri" pitchFamily="34" charset="-122"/>
                <a:cs typeface="Calibri" pitchFamily="34" charset="-120"/>
              </a:rPr>
              <a:t>Customer Ratings</a:t>
            </a:r>
            <a:endParaRPr lang="en-US" sz="1500" dirty="0"/>
          </a:p>
        </p:txBody>
      </p:sp>
      <p:sp>
        <p:nvSpPr>
          <p:cNvPr id="18" name="Text 13"/>
          <p:cNvSpPr/>
          <p:nvPr/>
        </p:nvSpPr>
        <p:spPr>
          <a:xfrm>
            <a:off x="7863840" y="3465576"/>
            <a:ext cx="3657600" cy="4114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Average rating &amp; satisfaction</a:t>
            </a:r>
            <a:endParaRPr lang="en-US" sz="1200" dirty="0"/>
          </a:p>
        </p:txBody>
      </p:sp>
      <p:sp>
        <p:nvSpPr>
          <p:cNvPr id="19" name="Shape 14"/>
          <p:cNvSpPr/>
          <p:nvPr/>
        </p:nvSpPr>
        <p:spPr>
          <a:xfrm>
            <a:off x="6903720" y="4178808"/>
            <a:ext cx="4754880" cy="1078992"/>
          </a:xfrm>
          <a:prstGeom prst="roundRect">
            <a:avLst>
              <a:gd name="adj" fmla="val 7627"/>
            </a:avLst>
          </a:prstGeom>
          <a:solidFill>
            <a:srgbClr val="FDEDEE"/>
          </a:solidFill>
          <a:ln/>
        </p:spPr>
      </p:sp>
      <p:sp>
        <p:nvSpPr>
          <p:cNvPr id="20" name="Shape 15"/>
          <p:cNvSpPr/>
          <p:nvPr/>
        </p:nvSpPr>
        <p:spPr>
          <a:xfrm>
            <a:off x="7132320" y="4434840"/>
            <a:ext cx="566928" cy="566928"/>
          </a:xfrm>
          <a:prstGeom prst="ellipse">
            <a:avLst/>
          </a:prstGeom>
          <a:solidFill>
            <a:srgbClr val="F96167"/>
          </a:solidFill>
          <a:ln/>
        </p:spPr>
      </p:sp>
      <p:pic>
        <p:nvPicPr>
          <p:cNvPr id="21" name="Image 3" descr="preencoded.png"/>
          <p:cNvPicPr>
            <a:picLocks noChangeAspect="1"/>
          </p:cNvPicPr>
          <p:nvPr/>
        </p:nvPicPr>
        <p:blipFill>
          <a:blip r:embed="rId4"/>
          <a:stretch>
            <a:fillRect/>
          </a:stretch>
        </p:blipFill>
        <p:spPr>
          <a:xfrm>
            <a:off x="7260336" y="4562856"/>
            <a:ext cx="310896" cy="310896"/>
          </a:xfrm>
          <a:prstGeom prst="rect">
            <a:avLst/>
          </a:prstGeom>
        </p:spPr>
      </p:pic>
      <p:sp>
        <p:nvSpPr>
          <p:cNvPr id="22" name="Text 16"/>
          <p:cNvSpPr/>
          <p:nvPr/>
        </p:nvSpPr>
        <p:spPr>
          <a:xfrm>
            <a:off x="7863840" y="4325112"/>
            <a:ext cx="3657600" cy="365760"/>
          </a:xfrm>
          <a:prstGeom prst="rect">
            <a:avLst/>
          </a:prstGeom>
          <a:noFill/>
          <a:ln/>
        </p:spPr>
        <p:txBody>
          <a:bodyPr wrap="square" lIns="0" tIns="0" rIns="0" bIns="0" rtlCol="0" anchor="ctr"/>
          <a:lstStyle/>
          <a:p>
            <a:pPr indent="0" marL="0">
              <a:buNone/>
            </a:pPr>
            <a:r>
              <a:rPr lang="en-US" sz="1500" b="1" dirty="0">
                <a:solidFill>
                  <a:srgbClr val="232C5E"/>
                </a:solidFill>
                <a:latin typeface="Calibri" pitchFamily="34" charset="0"/>
                <a:ea typeface="Calibri" pitchFamily="34" charset="-122"/>
                <a:cs typeface="Calibri" pitchFamily="34" charset="-120"/>
              </a:rPr>
              <a:t>Spending Power</a:t>
            </a:r>
            <a:endParaRPr lang="en-US" sz="1500" dirty="0"/>
          </a:p>
        </p:txBody>
      </p:sp>
      <p:sp>
        <p:nvSpPr>
          <p:cNvPr id="23" name="Text 17"/>
          <p:cNvSpPr/>
          <p:nvPr/>
        </p:nvSpPr>
        <p:spPr>
          <a:xfrm>
            <a:off x="7863840" y="4709160"/>
            <a:ext cx="3657600" cy="4114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Average cost for two</a:t>
            </a:r>
            <a:endParaRPr lang="en-US" sz="1200" dirty="0"/>
          </a:p>
        </p:txBody>
      </p:sp>
      <p:sp>
        <p:nvSpPr>
          <p:cNvPr id="24" name="Shape 18"/>
          <p:cNvSpPr/>
          <p:nvPr/>
        </p:nvSpPr>
        <p:spPr>
          <a:xfrm>
            <a:off x="6903720" y="5422392"/>
            <a:ext cx="4754880" cy="1078992"/>
          </a:xfrm>
          <a:prstGeom prst="roundRect">
            <a:avLst>
              <a:gd name="adj" fmla="val 7627"/>
            </a:avLst>
          </a:prstGeom>
          <a:solidFill>
            <a:srgbClr val="FDEDEE"/>
          </a:solidFill>
          <a:ln/>
        </p:spPr>
      </p:sp>
      <p:sp>
        <p:nvSpPr>
          <p:cNvPr id="25" name="Shape 19"/>
          <p:cNvSpPr/>
          <p:nvPr/>
        </p:nvSpPr>
        <p:spPr>
          <a:xfrm>
            <a:off x="7132320" y="5678424"/>
            <a:ext cx="566928" cy="566928"/>
          </a:xfrm>
          <a:prstGeom prst="ellipse">
            <a:avLst/>
          </a:prstGeom>
          <a:solidFill>
            <a:srgbClr val="F96167"/>
          </a:solidFill>
          <a:ln/>
        </p:spPr>
      </p:sp>
      <p:pic>
        <p:nvPicPr>
          <p:cNvPr id="26" name="Image 4" descr="preencoded.png"/>
          <p:cNvPicPr>
            <a:picLocks noChangeAspect="1"/>
          </p:cNvPicPr>
          <p:nvPr/>
        </p:nvPicPr>
        <p:blipFill>
          <a:blip r:embed="rId5"/>
          <a:stretch>
            <a:fillRect/>
          </a:stretch>
        </p:blipFill>
        <p:spPr>
          <a:xfrm>
            <a:off x="7260336" y="5806440"/>
            <a:ext cx="310896" cy="310896"/>
          </a:xfrm>
          <a:prstGeom prst="rect">
            <a:avLst/>
          </a:prstGeom>
        </p:spPr>
      </p:pic>
      <p:sp>
        <p:nvSpPr>
          <p:cNvPr id="27" name="Text 20"/>
          <p:cNvSpPr/>
          <p:nvPr/>
        </p:nvSpPr>
        <p:spPr>
          <a:xfrm>
            <a:off x="7863840" y="5568696"/>
            <a:ext cx="3657600" cy="365760"/>
          </a:xfrm>
          <a:prstGeom prst="rect">
            <a:avLst/>
          </a:prstGeom>
          <a:noFill/>
          <a:ln/>
        </p:spPr>
        <p:txBody>
          <a:bodyPr wrap="square" lIns="0" tIns="0" rIns="0" bIns="0" rtlCol="0" anchor="ctr"/>
          <a:lstStyle/>
          <a:p>
            <a:pPr indent="0" marL="0">
              <a:buNone/>
            </a:pPr>
            <a:r>
              <a:rPr lang="en-US" sz="1500" b="1" dirty="0">
                <a:solidFill>
                  <a:srgbClr val="232C5E"/>
                </a:solidFill>
                <a:latin typeface="Calibri" pitchFamily="34" charset="0"/>
                <a:ea typeface="Calibri" pitchFamily="34" charset="-122"/>
                <a:cs typeface="Calibri" pitchFamily="34" charset="-120"/>
              </a:rPr>
              <a:t>Service Adoption</a:t>
            </a:r>
            <a:endParaRPr lang="en-US" sz="1500" dirty="0"/>
          </a:p>
        </p:txBody>
      </p:sp>
      <p:sp>
        <p:nvSpPr>
          <p:cNvPr id="28" name="Text 21"/>
          <p:cNvSpPr/>
          <p:nvPr/>
        </p:nvSpPr>
        <p:spPr>
          <a:xfrm>
            <a:off x="7863840" y="5952744"/>
            <a:ext cx="3657600" cy="4114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Delivery &amp; table booking impact</a:t>
            </a:r>
            <a:endParaRPr lang="en-US" sz="1200" dirty="0"/>
          </a:p>
        </p:txBody>
      </p:sp>
      <p:sp>
        <p:nvSpPr>
          <p:cNvPr id="29" name="Text 22"/>
          <p:cNvSpPr/>
          <p:nvPr/>
        </p:nvSpPr>
        <p:spPr>
          <a:xfrm>
            <a:off x="548640" y="6473952"/>
            <a:ext cx="45720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Zomato Expansion Strategy</a:t>
            </a:r>
            <a:endParaRPr lang="en-US" sz="950" dirty="0"/>
          </a:p>
        </p:txBody>
      </p:sp>
      <p:sp>
        <p:nvSpPr>
          <p:cNvPr id="30" name="Text 23"/>
          <p:cNvSpPr/>
          <p:nvPr/>
        </p:nvSpPr>
        <p:spPr>
          <a:xfrm>
            <a:off x="11274552" y="6473952"/>
            <a:ext cx="36576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D9484E"/>
                </a:solidFill>
                <a:latin typeface="Calibri" pitchFamily="34" charset="0"/>
                <a:ea typeface="Calibri" pitchFamily="34" charset="-122"/>
                <a:cs typeface="Calibri" pitchFamily="34" charset="-120"/>
              </a:rPr>
              <a:t>THE FOUNDATION</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32C5E"/>
                </a:solidFill>
                <a:latin typeface="Cambria" pitchFamily="34" charset="0"/>
                <a:ea typeface="Cambria" pitchFamily="34" charset="-122"/>
                <a:cs typeface="Cambria" pitchFamily="34" charset="-120"/>
              </a:rPr>
              <a:t>Data Overview</a:t>
            </a:r>
            <a:endParaRPr lang="en-US" sz="3000" dirty="0"/>
          </a:p>
        </p:txBody>
      </p:sp>
      <p:sp>
        <p:nvSpPr>
          <p:cNvPr id="4" name="Text 2"/>
          <p:cNvSpPr/>
          <p:nvPr/>
        </p:nvSpPr>
        <p:spPr>
          <a:xfrm>
            <a:off x="548640" y="1627632"/>
            <a:ext cx="10515600" cy="640080"/>
          </a:xfrm>
          <a:prstGeom prst="rect">
            <a:avLst/>
          </a:prstGeom>
          <a:noFill/>
          <a:ln/>
        </p:spPr>
        <p:txBody>
          <a:bodyPr wrap="square" lIns="0" tIns="0" rIns="0" bIns="0" rtlCol="0" anchor="ctr"/>
          <a:lstStyle/>
          <a:p>
            <a:pPr indent="0" marL="0">
              <a:lnSpc>
                <a:spcPct val="125000"/>
              </a:lnSpc>
              <a:buNone/>
            </a:pPr>
            <a:r>
              <a:rPr lang="en-US" sz="1550" dirty="0">
                <a:solidFill>
                  <a:srgbClr val="26293D"/>
                </a:solidFill>
                <a:latin typeface="Calibri" pitchFamily="34" charset="0"/>
                <a:ea typeface="Calibri" pitchFamily="34" charset="-122"/>
                <a:cs typeface="Calibri" pitchFamily="34" charset="-120"/>
              </a:rPr>
              <a:t>The analysis is built on a cleaned, standardized, and enriched restaurant dataset spanning multiple countries, capturing pricing, ratings, cuisine, and service-adoption signals.</a:t>
            </a:r>
            <a:endParaRPr lang="en-US" sz="1550" dirty="0"/>
          </a:p>
        </p:txBody>
      </p:sp>
      <p:sp>
        <p:nvSpPr>
          <p:cNvPr id="5" name="Shape 3"/>
          <p:cNvSpPr/>
          <p:nvPr/>
        </p:nvSpPr>
        <p:spPr>
          <a:xfrm>
            <a:off x="905256" y="2514600"/>
            <a:ext cx="3246120" cy="1965960"/>
          </a:xfrm>
          <a:prstGeom prst="roundRect">
            <a:avLst>
              <a:gd name="adj" fmla="val 5581"/>
            </a:avLst>
          </a:prstGeom>
          <a:solidFill>
            <a:srgbClr val="FDEDEE"/>
          </a:solidFill>
          <a:ln/>
          <a:effectLst>
            <a:outerShdw sx="100000" sy="100000" kx="0" ky="0" algn="bl" rotWithShape="0" blurRad="127000" dist="50800" dir="5400000">
              <a:srgbClr val="000000">
                <a:alpha val="10000"/>
              </a:srgbClr>
            </a:outerShdw>
          </a:effectLst>
        </p:spPr>
      </p:sp>
      <p:sp>
        <p:nvSpPr>
          <p:cNvPr id="6" name="Shape 4"/>
          <p:cNvSpPr/>
          <p:nvPr/>
        </p:nvSpPr>
        <p:spPr>
          <a:xfrm>
            <a:off x="2162556" y="2770632"/>
            <a:ext cx="731520" cy="731520"/>
          </a:xfrm>
          <a:prstGeom prst="ellipse">
            <a:avLst/>
          </a:prstGeom>
          <a:solidFill>
            <a:srgbClr val="F96167"/>
          </a:solidFill>
          <a:ln/>
        </p:spPr>
      </p:sp>
      <p:pic>
        <p:nvPicPr>
          <p:cNvPr id="7" name="Image 0" descr="preencoded.png"/>
          <p:cNvPicPr>
            <a:picLocks noChangeAspect="1"/>
          </p:cNvPicPr>
          <p:nvPr/>
        </p:nvPicPr>
        <p:blipFill>
          <a:blip r:embed="rId1"/>
          <a:stretch>
            <a:fillRect/>
          </a:stretch>
        </p:blipFill>
        <p:spPr>
          <a:xfrm>
            <a:off x="2327148" y="2935224"/>
            <a:ext cx="402336" cy="402336"/>
          </a:xfrm>
          <a:prstGeom prst="rect">
            <a:avLst/>
          </a:prstGeom>
        </p:spPr>
      </p:pic>
      <p:sp>
        <p:nvSpPr>
          <p:cNvPr id="8" name="Text 5"/>
          <p:cNvSpPr/>
          <p:nvPr/>
        </p:nvSpPr>
        <p:spPr>
          <a:xfrm>
            <a:off x="905256" y="3538728"/>
            <a:ext cx="3246120" cy="594360"/>
          </a:xfrm>
          <a:prstGeom prst="rect">
            <a:avLst/>
          </a:prstGeom>
          <a:noFill/>
          <a:ln/>
        </p:spPr>
        <p:txBody>
          <a:bodyPr wrap="square" lIns="0" tIns="0" rIns="0" bIns="0" rtlCol="0" anchor="ctr"/>
          <a:lstStyle/>
          <a:p>
            <a:pPr algn="ctr" indent="0" marL="0">
              <a:buNone/>
            </a:pPr>
            <a:r>
              <a:rPr lang="en-US" sz="3400" b="1" dirty="0">
                <a:solidFill>
                  <a:srgbClr val="232C5E"/>
                </a:solidFill>
                <a:latin typeface="Cambria" pitchFamily="34" charset="0"/>
                <a:ea typeface="Cambria" pitchFamily="34" charset="-122"/>
                <a:cs typeface="Cambria" pitchFamily="34" charset="-120"/>
              </a:rPr>
              <a:t>9,551</a:t>
            </a:r>
            <a:endParaRPr lang="en-US" sz="3400" dirty="0"/>
          </a:p>
        </p:txBody>
      </p:sp>
      <p:sp>
        <p:nvSpPr>
          <p:cNvPr id="9" name="Text 6"/>
          <p:cNvSpPr/>
          <p:nvPr/>
        </p:nvSpPr>
        <p:spPr>
          <a:xfrm>
            <a:off x="905256" y="4087368"/>
            <a:ext cx="3246120" cy="320040"/>
          </a:xfrm>
          <a:prstGeom prst="rect">
            <a:avLst/>
          </a:prstGeom>
          <a:noFill/>
          <a:ln/>
        </p:spPr>
        <p:txBody>
          <a:bodyPr wrap="square" lIns="0" tIns="0" rIns="0" bIns="0"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Restaurants Analyzed</a:t>
            </a:r>
            <a:endParaRPr lang="en-US" sz="1300" dirty="0"/>
          </a:p>
        </p:txBody>
      </p:sp>
      <p:sp>
        <p:nvSpPr>
          <p:cNvPr id="10" name="Shape 7"/>
          <p:cNvSpPr/>
          <p:nvPr/>
        </p:nvSpPr>
        <p:spPr>
          <a:xfrm>
            <a:off x="4471416" y="2514600"/>
            <a:ext cx="3246120" cy="1965960"/>
          </a:xfrm>
          <a:prstGeom prst="roundRect">
            <a:avLst>
              <a:gd name="adj" fmla="val 5581"/>
            </a:avLst>
          </a:prstGeom>
          <a:solidFill>
            <a:srgbClr val="232C5E"/>
          </a:solidFill>
          <a:ln/>
          <a:effectLst>
            <a:outerShdw sx="100000" sy="100000" kx="0" ky="0" algn="bl" rotWithShape="0" blurRad="127000" dist="50800" dir="5400000">
              <a:srgbClr val="000000">
                <a:alpha val="10000"/>
              </a:srgbClr>
            </a:outerShdw>
          </a:effectLst>
        </p:spPr>
      </p:sp>
      <p:sp>
        <p:nvSpPr>
          <p:cNvPr id="11" name="Shape 8"/>
          <p:cNvSpPr/>
          <p:nvPr/>
        </p:nvSpPr>
        <p:spPr>
          <a:xfrm>
            <a:off x="5728716" y="2770632"/>
            <a:ext cx="731520" cy="731520"/>
          </a:xfrm>
          <a:prstGeom prst="ellipse">
            <a:avLst/>
          </a:prstGeom>
          <a:solidFill>
            <a:srgbClr val="F96167"/>
          </a:solidFill>
          <a:ln/>
        </p:spPr>
      </p:sp>
      <p:pic>
        <p:nvPicPr>
          <p:cNvPr id="12" name="Image 1" descr="preencoded.png"/>
          <p:cNvPicPr>
            <a:picLocks noChangeAspect="1"/>
          </p:cNvPicPr>
          <p:nvPr/>
        </p:nvPicPr>
        <p:blipFill>
          <a:blip r:embed="rId2"/>
          <a:stretch>
            <a:fillRect/>
          </a:stretch>
        </p:blipFill>
        <p:spPr>
          <a:xfrm>
            <a:off x="5893308" y="2935224"/>
            <a:ext cx="402336" cy="402336"/>
          </a:xfrm>
          <a:prstGeom prst="rect">
            <a:avLst/>
          </a:prstGeom>
        </p:spPr>
      </p:pic>
      <p:sp>
        <p:nvSpPr>
          <p:cNvPr id="13" name="Text 9"/>
          <p:cNvSpPr/>
          <p:nvPr/>
        </p:nvSpPr>
        <p:spPr>
          <a:xfrm>
            <a:off x="4471416" y="3538728"/>
            <a:ext cx="3246120" cy="5943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15</a:t>
            </a:r>
            <a:endParaRPr lang="en-US" sz="3400" dirty="0"/>
          </a:p>
        </p:txBody>
      </p:sp>
      <p:sp>
        <p:nvSpPr>
          <p:cNvPr id="14" name="Text 10"/>
          <p:cNvSpPr/>
          <p:nvPr/>
        </p:nvSpPr>
        <p:spPr>
          <a:xfrm>
            <a:off x="4471416" y="4087368"/>
            <a:ext cx="3246120" cy="32004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Countries Covered</a:t>
            </a:r>
            <a:endParaRPr lang="en-US" sz="1300" dirty="0"/>
          </a:p>
        </p:txBody>
      </p:sp>
      <p:sp>
        <p:nvSpPr>
          <p:cNvPr id="15" name="Shape 11"/>
          <p:cNvSpPr/>
          <p:nvPr/>
        </p:nvSpPr>
        <p:spPr>
          <a:xfrm>
            <a:off x="8037576" y="2514600"/>
            <a:ext cx="3246120" cy="1965960"/>
          </a:xfrm>
          <a:prstGeom prst="roundRect">
            <a:avLst>
              <a:gd name="adj" fmla="val 5581"/>
            </a:avLst>
          </a:prstGeom>
          <a:solidFill>
            <a:srgbClr val="FDEDEE"/>
          </a:solidFill>
          <a:ln/>
          <a:effectLst>
            <a:outerShdw sx="100000" sy="100000" kx="0" ky="0" algn="bl" rotWithShape="0" blurRad="127000" dist="50800" dir="5400000">
              <a:srgbClr val="000000">
                <a:alpha val="10000"/>
              </a:srgbClr>
            </a:outerShdw>
          </a:effectLst>
        </p:spPr>
      </p:sp>
      <p:sp>
        <p:nvSpPr>
          <p:cNvPr id="16" name="Shape 12"/>
          <p:cNvSpPr/>
          <p:nvPr/>
        </p:nvSpPr>
        <p:spPr>
          <a:xfrm>
            <a:off x="9294876" y="2770632"/>
            <a:ext cx="731520" cy="731520"/>
          </a:xfrm>
          <a:prstGeom prst="ellipse">
            <a:avLst/>
          </a:prstGeom>
          <a:solidFill>
            <a:srgbClr val="F96167"/>
          </a:solidFill>
          <a:ln/>
        </p:spPr>
      </p:sp>
      <p:pic>
        <p:nvPicPr>
          <p:cNvPr id="17" name="Image 2" descr="preencoded.png"/>
          <p:cNvPicPr>
            <a:picLocks noChangeAspect="1"/>
          </p:cNvPicPr>
          <p:nvPr/>
        </p:nvPicPr>
        <p:blipFill>
          <a:blip r:embed="rId3"/>
          <a:stretch>
            <a:fillRect/>
          </a:stretch>
        </p:blipFill>
        <p:spPr>
          <a:xfrm>
            <a:off x="9459468" y="2935224"/>
            <a:ext cx="402336" cy="402336"/>
          </a:xfrm>
          <a:prstGeom prst="rect">
            <a:avLst/>
          </a:prstGeom>
        </p:spPr>
      </p:pic>
      <p:sp>
        <p:nvSpPr>
          <p:cNvPr id="18" name="Text 13"/>
          <p:cNvSpPr/>
          <p:nvPr/>
        </p:nvSpPr>
        <p:spPr>
          <a:xfrm>
            <a:off x="8037576" y="3538728"/>
            <a:ext cx="3246120" cy="594360"/>
          </a:xfrm>
          <a:prstGeom prst="rect">
            <a:avLst/>
          </a:prstGeom>
          <a:noFill/>
          <a:ln/>
        </p:spPr>
        <p:txBody>
          <a:bodyPr wrap="square" lIns="0" tIns="0" rIns="0" bIns="0" rtlCol="0" anchor="ctr"/>
          <a:lstStyle/>
          <a:p>
            <a:pPr algn="ctr" indent="0" marL="0">
              <a:buNone/>
            </a:pPr>
            <a:r>
              <a:rPr lang="en-US" sz="3400" b="1" dirty="0">
                <a:solidFill>
                  <a:srgbClr val="232C5E"/>
                </a:solidFill>
                <a:latin typeface="Cambria" pitchFamily="34" charset="0"/>
                <a:ea typeface="Cambria" pitchFamily="34" charset="-122"/>
                <a:cs typeface="Cambria" pitchFamily="34" charset="-120"/>
              </a:rPr>
              <a:t>20</a:t>
            </a:r>
            <a:endParaRPr lang="en-US" sz="3400" dirty="0"/>
          </a:p>
        </p:txBody>
      </p:sp>
      <p:sp>
        <p:nvSpPr>
          <p:cNvPr id="19" name="Text 14"/>
          <p:cNvSpPr/>
          <p:nvPr/>
        </p:nvSpPr>
        <p:spPr>
          <a:xfrm>
            <a:off x="8037576" y="4087368"/>
            <a:ext cx="3246120" cy="320040"/>
          </a:xfrm>
          <a:prstGeom prst="rect">
            <a:avLst/>
          </a:prstGeom>
          <a:noFill/>
          <a:ln/>
        </p:spPr>
        <p:txBody>
          <a:bodyPr wrap="square" lIns="0" tIns="0" rIns="0" bIns="0"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Attributes per Record</a:t>
            </a:r>
            <a:endParaRPr lang="en-US" sz="1300" dirty="0"/>
          </a:p>
        </p:txBody>
      </p:sp>
      <p:sp>
        <p:nvSpPr>
          <p:cNvPr id="20" name="Shape 15"/>
          <p:cNvSpPr/>
          <p:nvPr/>
        </p:nvSpPr>
        <p:spPr>
          <a:xfrm>
            <a:off x="548640" y="4892040"/>
            <a:ext cx="11091672" cy="868680"/>
          </a:xfrm>
          <a:prstGeom prst="roundRect">
            <a:avLst>
              <a:gd name="adj" fmla="val 10526"/>
            </a:avLst>
          </a:prstGeom>
          <a:solidFill>
            <a:srgbClr val="FDEDEE"/>
          </a:solidFill>
          <a:ln/>
        </p:spPr>
      </p:sp>
      <p:pic>
        <p:nvPicPr>
          <p:cNvPr id="21" name="Image 3" descr="preencoded.png"/>
          <p:cNvPicPr>
            <a:picLocks noChangeAspect="1"/>
          </p:cNvPicPr>
          <p:nvPr/>
        </p:nvPicPr>
        <p:blipFill>
          <a:blip r:embed="rId4"/>
          <a:stretch>
            <a:fillRect/>
          </a:stretch>
        </p:blipFill>
        <p:spPr>
          <a:xfrm>
            <a:off x="804672" y="5148072"/>
            <a:ext cx="365760" cy="365760"/>
          </a:xfrm>
          <a:prstGeom prst="rect">
            <a:avLst/>
          </a:prstGeom>
        </p:spPr>
      </p:pic>
      <p:sp>
        <p:nvSpPr>
          <p:cNvPr id="22" name="Text 16"/>
          <p:cNvSpPr/>
          <p:nvPr/>
        </p:nvSpPr>
        <p:spPr>
          <a:xfrm>
            <a:off x="1325880" y="5001768"/>
            <a:ext cx="10085832" cy="658368"/>
          </a:xfrm>
          <a:prstGeom prst="rect">
            <a:avLst/>
          </a:prstGeom>
          <a:noFill/>
          <a:ln/>
        </p:spPr>
        <p:txBody>
          <a:bodyPr wrap="square" lIns="0" tIns="0" rIns="0" bIns="0" rtlCol="0" anchor="ctr"/>
          <a:lstStyle/>
          <a:p>
            <a:pPr indent="0" marL="0">
              <a:lnSpc>
                <a:spcPct val="115000"/>
              </a:lnSpc>
              <a:buNone/>
            </a:pPr>
            <a:r>
              <a:rPr lang="en-US" sz="1350" dirty="0">
                <a:solidFill>
                  <a:srgbClr val="26293D"/>
                </a:solidFill>
                <a:latin typeface="Calibri" pitchFamily="34" charset="0"/>
                <a:ea typeface="Calibri" pitchFamily="34" charset="-122"/>
                <a:cs typeface="Calibri" pitchFamily="34" charset="-120"/>
              </a:rPr>
              <a:t>Dataset cleaned, de-duplicated, and standardized across currencies and rating scales — enriched with delivery, booking, and cuisine indicators for comparative analysis.</a:t>
            </a:r>
            <a:endParaRPr lang="en-US" sz="1350" dirty="0"/>
          </a:p>
        </p:txBody>
      </p:sp>
      <p:sp>
        <p:nvSpPr>
          <p:cNvPr id="23" name="Text 17"/>
          <p:cNvSpPr/>
          <p:nvPr/>
        </p:nvSpPr>
        <p:spPr>
          <a:xfrm>
            <a:off x="548640" y="6473952"/>
            <a:ext cx="45720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Zomato Expansion Strategy</a:t>
            </a:r>
            <a:endParaRPr lang="en-US" sz="950" dirty="0"/>
          </a:p>
        </p:txBody>
      </p:sp>
      <p:sp>
        <p:nvSpPr>
          <p:cNvPr id="24" name="Text 18"/>
          <p:cNvSpPr/>
          <p:nvPr/>
        </p:nvSpPr>
        <p:spPr>
          <a:xfrm>
            <a:off x="11274552" y="6473952"/>
            <a:ext cx="36576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D9484E"/>
                </a:solidFill>
                <a:latin typeface="Calibri" pitchFamily="34" charset="0"/>
                <a:ea typeface="Calibri" pitchFamily="34" charset="-122"/>
                <a:cs typeface="Calibri" pitchFamily="34" charset="-120"/>
              </a:rPr>
              <a:t>ANALYSIS 1 OF 6</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32C5E"/>
                </a:solidFill>
                <a:latin typeface="Cambria" pitchFamily="34" charset="0"/>
                <a:ea typeface="Cambria" pitchFamily="34" charset="-122"/>
                <a:cs typeface="Cambria" pitchFamily="34" charset="-120"/>
              </a:rPr>
              <a:t>Restaurant Count by Country</a:t>
            </a:r>
            <a:endParaRPr lang="en-US" sz="3000" dirty="0"/>
          </a:p>
        </p:txBody>
      </p:sp>
      <p:graphicFrame>
        <p:nvGraphicFramePr>
          <p:cNvPr id="4" name="Chart 0" descr=""/>
          <p:cNvGraphicFramePr/>
          <p:nvPr/>
        </p:nvGraphicFramePr>
        <p:xfrm>
          <a:off x="548640" y="1645920"/>
          <a:ext cx="6446520" cy="4251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178040" y="1645920"/>
            <a:ext cx="4462272" cy="4251960"/>
          </a:xfrm>
          <a:prstGeom prst="roundRect">
            <a:avLst>
              <a:gd name="adj" fmla="val 1935"/>
            </a:avLst>
          </a:prstGeom>
          <a:solidFill>
            <a:srgbClr val="FDEDEE"/>
          </a:solidFill>
          <a:ln w="12700">
            <a:solidFill>
              <a:srgbClr val="FFFFFF"/>
            </a:solidFill>
            <a:prstDash val="solid"/>
          </a:ln>
          <a:effectLst>
            <a:outerShdw sx="100000" sy="100000" kx="0" ky="0" algn="bl" rotWithShape="0" blurRad="101600" dist="38100" dir="5400000">
              <a:srgbClr val="000000">
                <a:alpha val="8000"/>
              </a:srgbClr>
            </a:outerShdw>
          </a:effectLst>
        </p:spPr>
      </p:sp>
      <p:sp>
        <p:nvSpPr>
          <p:cNvPr id="6" name="Shape 3"/>
          <p:cNvSpPr/>
          <p:nvPr/>
        </p:nvSpPr>
        <p:spPr>
          <a:xfrm>
            <a:off x="7470648" y="1956816"/>
            <a:ext cx="109728" cy="109728"/>
          </a:xfrm>
          <a:prstGeom prst="ellipse">
            <a:avLst/>
          </a:prstGeom>
          <a:solidFill>
            <a:srgbClr val="F96167"/>
          </a:solidFill>
          <a:ln/>
        </p:spPr>
      </p:sp>
      <p:sp>
        <p:nvSpPr>
          <p:cNvPr id="7" name="Text 4"/>
          <p:cNvSpPr/>
          <p:nvPr/>
        </p:nvSpPr>
        <p:spPr>
          <a:xfrm>
            <a:off x="7726680" y="1828800"/>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India dominates the dataset with 8,652 listings — the market is saturated and highly competitive.</a:t>
            </a:r>
            <a:endParaRPr lang="en-US" sz="1450" dirty="0"/>
          </a:p>
        </p:txBody>
      </p:sp>
      <p:sp>
        <p:nvSpPr>
          <p:cNvPr id="8" name="Shape 5"/>
          <p:cNvSpPr/>
          <p:nvPr/>
        </p:nvSpPr>
        <p:spPr>
          <a:xfrm>
            <a:off x="7470648" y="3215640"/>
            <a:ext cx="109728" cy="109728"/>
          </a:xfrm>
          <a:prstGeom prst="ellipse">
            <a:avLst/>
          </a:prstGeom>
          <a:solidFill>
            <a:srgbClr val="F96167"/>
          </a:solidFill>
          <a:ln/>
        </p:spPr>
      </p:sp>
      <p:sp>
        <p:nvSpPr>
          <p:cNvPr id="9" name="Text 6"/>
          <p:cNvSpPr/>
          <p:nvPr/>
        </p:nvSpPr>
        <p:spPr>
          <a:xfrm>
            <a:off x="7726680" y="3087624"/>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Philippines, Turkey &amp; New Zealand show very low restaurant density, signaling open white space.</a:t>
            </a:r>
            <a:endParaRPr lang="en-US" sz="1450" dirty="0"/>
          </a:p>
        </p:txBody>
      </p:sp>
      <p:sp>
        <p:nvSpPr>
          <p:cNvPr id="10" name="Shape 7"/>
          <p:cNvSpPr/>
          <p:nvPr/>
        </p:nvSpPr>
        <p:spPr>
          <a:xfrm>
            <a:off x="7470648" y="4474464"/>
            <a:ext cx="109728" cy="109728"/>
          </a:xfrm>
          <a:prstGeom prst="ellipse">
            <a:avLst/>
          </a:prstGeom>
          <a:solidFill>
            <a:srgbClr val="F96167"/>
          </a:solidFill>
          <a:ln/>
        </p:spPr>
      </p:sp>
      <p:sp>
        <p:nvSpPr>
          <p:cNvPr id="11" name="Text 8"/>
          <p:cNvSpPr/>
          <p:nvPr/>
        </p:nvSpPr>
        <p:spPr>
          <a:xfrm>
            <a:off x="7726680" y="4346448"/>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Low listing counts in these markets point to a strong first-mover expansion opportunity.</a:t>
            </a:r>
            <a:endParaRPr lang="en-US" sz="1450" dirty="0"/>
          </a:p>
        </p:txBody>
      </p:sp>
      <p:sp>
        <p:nvSpPr>
          <p:cNvPr id="12" name="Text 9"/>
          <p:cNvSpPr/>
          <p:nvPr/>
        </p:nvSpPr>
        <p:spPr>
          <a:xfrm>
            <a:off x="548640" y="6473952"/>
            <a:ext cx="45720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Zomato Expansion Strategy</a:t>
            </a:r>
            <a:endParaRPr lang="en-US" sz="950" dirty="0"/>
          </a:p>
        </p:txBody>
      </p:sp>
      <p:sp>
        <p:nvSpPr>
          <p:cNvPr id="13" name="Text 10"/>
          <p:cNvSpPr/>
          <p:nvPr/>
        </p:nvSpPr>
        <p:spPr>
          <a:xfrm>
            <a:off x="11274552" y="6473952"/>
            <a:ext cx="36576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D9484E"/>
                </a:solidFill>
                <a:latin typeface="Calibri" pitchFamily="34" charset="0"/>
                <a:ea typeface="Calibri" pitchFamily="34" charset="-122"/>
                <a:cs typeface="Calibri" pitchFamily="34" charset="-120"/>
              </a:rPr>
              <a:t>ANALYSIS 2 OF 6</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32C5E"/>
                </a:solidFill>
                <a:latin typeface="Cambria" pitchFamily="34" charset="0"/>
                <a:ea typeface="Cambria" pitchFamily="34" charset="-122"/>
                <a:cs typeface="Cambria" pitchFamily="34" charset="-120"/>
              </a:rPr>
              <a:t>Ratings in Recommended Countries</a:t>
            </a:r>
            <a:endParaRPr lang="en-US" sz="3000" dirty="0"/>
          </a:p>
        </p:txBody>
      </p:sp>
      <p:graphicFrame>
        <p:nvGraphicFramePr>
          <p:cNvPr id="4" name="Chart 0" descr=""/>
          <p:cNvGraphicFramePr/>
          <p:nvPr/>
        </p:nvGraphicFramePr>
        <p:xfrm>
          <a:off x="548640" y="1645920"/>
          <a:ext cx="6446520" cy="4251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178040" y="1645920"/>
            <a:ext cx="4462272" cy="4251960"/>
          </a:xfrm>
          <a:prstGeom prst="roundRect">
            <a:avLst>
              <a:gd name="adj" fmla="val 1935"/>
            </a:avLst>
          </a:prstGeom>
          <a:solidFill>
            <a:srgbClr val="FDEDEE"/>
          </a:solidFill>
          <a:ln w="12700">
            <a:solidFill>
              <a:srgbClr val="FFFFFF"/>
            </a:solidFill>
            <a:prstDash val="solid"/>
          </a:ln>
          <a:effectLst>
            <a:outerShdw sx="100000" sy="100000" kx="0" ky="0" algn="bl" rotWithShape="0" blurRad="101600" dist="38100" dir="5400000">
              <a:srgbClr val="000000">
                <a:alpha val="8000"/>
              </a:srgbClr>
            </a:outerShdw>
          </a:effectLst>
        </p:spPr>
      </p:sp>
      <p:sp>
        <p:nvSpPr>
          <p:cNvPr id="6" name="Shape 3"/>
          <p:cNvSpPr/>
          <p:nvPr/>
        </p:nvSpPr>
        <p:spPr>
          <a:xfrm>
            <a:off x="7470648" y="1956816"/>
            <a:ext cx="109728" cy="109728"/>
          </a:xfrm>
          <a:prstGeom prst="ellipse">
            <a:avLst/>
          </a:prstGeom>
          <a:solidFill>
            <a:srgbClr val="F96167"/>
          </a:solidFill>
          <a:ln/>
        </p:spPr>
      </p:sp>
      <p:sp>
        <p:nvSpPr>
          <p:cNvPr id="7" name="Text 4"/>
          <p:cNvSpPr/>
          <p:nvPr/>
        </p:nvSpPr>
        <p:spPr>
          <a:xfrm>
            <a:off x="7726680" y="1828800"/>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Philippines posts the highest average rating (4.5) among all candidate markets.</a:t>
            </a:r>
            <a:endParaRPr lang="en-US" sz="1450" dirty="0"/>
          </a:p>
        </p:txBody>
      </p:sp>
      <p:sp>
        <p:nvSpPr>
          <p:cNvPr id="8" name="Shape 5"/>
          <p:cNvSpPr/>
          <p:nvPr/>
        </p:nvSpPr>
        <p:spPr>
          <a:xfrm>
            <a:off x="7470648" y="3215640"/>
            <a:ext cx="109728" cy="109728"/>
          </a:xfrm>
          <a:prstGeom prst="ellipse">
            <a:avLst/>
          </a:prstGeom>
          <a:solidFill>
            <a:srgbClr val="F96167"/>
          </a:solidFill>
          <a:ln/>
        </p:spPr>
      </p:sp>
      <p:sp>
        <p:nvSpPr>
          <p:cNvPr id="9" name="Text 6"/>
          <p:cNvSpPr/>
          <p:nvPr/>
        </p:nvSpPr>
        <p:spPr>
          <a:xfrm>
            <a:off x="7726680" y="3087624"/>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Turkey and New Zealand both rate above the global average of 3.7.</a:t>
            </a:r>
            <a:endParaRPr lang="en-US" sz="1450" dirty="0"/>
          </a:p>
        </p:txBody>
      </p:sp>
      <p:sp>
        <p:nvSpPr>
          <p:cNvPr id="10" name="Shape 7"/>
          <p:cNvSpPr/>
          <p:nvPr/>
        </p:nvSpPr>
        <p:spPr>
          <a:xfrm>
            <a:off x="7470648" y="4474464"/>
            <a:ext cx="109728" cy="109728"/>
          </a:xfrm>
          <a:prstGeom prst="ellipse">
            <a:avLst/>
          </a:prstGeom>
          <a:solidFill>
            <a:srgbClr val="F96167"/>
          </a:solidFill>
          <a:ln/>
        </p:spPr>
      </p:sp>
      <p:sp>
        <p:nvSpPr>
          <p:cNvPr id="11" name="Text 8"/>
          <p:cNvSpPr/>
          <p:nvPr/>
        </p:nvSpPr>
        <p:spPr>
          <a:xfrm>
            <a:off x="7726680" y="4346448"/>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Consistently high ratings indicate strong existing customer satisfaction in these regions.</a:t>
            </a:r>
            <a:endParaRPr lang="en-US" sz="1450" dirty="0"/>
          </a:p>
        </p:txBody>
      </p:sp>
      <p:sp>
        <p:nvSpPr>
          <p:cNvPr id="12" name="Text 9"/>
          <p:cNvSpPr/>
          <p:nvPr/>
        </p:nvSpPr>
        <p:spPr>
          <a:xfrm>
            <a:off x="548640" y="6473952"/>
            <a:ext cx="45720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Zomato Expansion Strategy</a:t>
            </a:r>
            <a:endParaRPr lang="en-US" sz="950" dirty="0"/>
          </a:p>
        </p:txBody>
      </p:sp>
      <p:sp>
        <p:nvSpPr>
          <p:cNvPr id="13" name="Text 10"/>
          <p:cNvSpPr/>
          <p:nvPr/>
        </p:nvSpPr>
        <p:spPr>
          <a:xfrm>
            <a:off x="11274552" y="6473952"/>
            <a:ext cx="36576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D9484E"/>
                </a:solidFill>
                <a:latin typeface="Calibri" pitchFamily="34" charset="0"/>
                <a:ea typeface="Calibri" pitchFamily="34" charset="-122"/>
                <a:cs typeface="Calibri" pitchFamily="34" charset="-120"/>
              </a:rPr>
              <a:t>ANALYSIS 3 OF 6</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32C5E"/>
                </a:solidFill>
                <a:latin typeface="Cambria" pitchFamily="34" charset="0"/>
                <a:ea typeface="Cambria" pitchFamily="34" charset="-122"/>
                <a:cs typeface="Cambria" pitchFamily="34" charset="-120"/>
              </a:rPr>
              <a:t>Average Cost for Two (INR)</a:t>
            </a:r>
            <a:endParaRPr lang="en-US" sz="3000" dirty="0"/>
          </a:p>
        </p:txBody>
      </p:sp>
      <p:graphicFrame>
        <p:nvGraphicFramePr>
          <p:cNvPr id="4" name="Chart 0" descr=""/>
          <p:cNvGraphicFramePr/>
          <p:nvPr/>
        </p:nvGraphicFramePr>
        <p:xfrm>
          <a:off x="548640" y="1645920"/>
          <a:ext cx="6446520" cy="4251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178040" y="1645920"/>
            <a:ext cx="4462272" cy="4251960"/>
          </a:xfrm>
          <a:prstGeom prst="roundRect">
            <a:avLst>
              <a:gd name="adj" fmla="val 1935"/>
            </a:avLst>
          </a:prstGeom>
          <a:solidFill>
            <a:srgbClr val="FDEDEE"/>
          </a:solidFill>
          <a:ln w="12700">
            <a:solidFill>
              <a:srgbClr val="FFFFFF"/>
            </a:solidFill>
            <a:prstDash val="solid"/>
          </a:ln>
          <a:effectLst>
            <a:outerShdw sx="100000" sy="100000" kx="0" ky="0" algn="bl" rotWithShape="0" blurRad="101600" dist="38100" dir="5400000">
              <a:srgbClr val="000000">
                <a:alpha val="8000"/>
              </a:srgbClr>
            </a:outerShdw>
          </a:effectLst>
        </p:spPr>
      </p:sp>
      <p:sp>
        <p:nvSpPr>
          <p:cNvPr id="6" name="Shape 3"/>
          <p:cNvSpPr/>
          <p:nvPr/>
        </p:nvSpPr>
        <p:spPr>
          <a:xfrm>
            <a:off x="7470648" y="1956816"/>
            <a:ext cx="109728" cy="109728"/>
          </a:xfrm>
          <a:prstGeom prst="ellipse">
            <a:avLst/>
          </a:prstGeom>
          <a:solidFill>
            <a:srgbClr val="F96167"/>
          </a:solidFill>
          <a:ln/>
        </p:spPr>
      </p:sp>
      <p:sp>
        <p:nvSpPr>
          <p:cNvPr id="7" name="Text 4"/>
          <p:cNvSpPr/>
          <p:nvPr/>
        </p:nvSpPr>
        <p:spPr>
          <a:xfrm>
            <a:off x="7726680" y="1828800"/>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Turkey is the most cost-efficient market at roughly ₹950 average spend for two.</a:t>
            </a:r>
            <a:endParaRPr lang="en-US" sz="1450" dirty="0"/>
          </a:p>
        </p:txBody>
      </p:sp>
      <p:sp>
        <p:nvSpPr>
          <p:cNvPr id="8" name="Shape 5"/>
          <p:cNvSpPr/>
          <p:nvPr/>
        </p:nvSpPr>
        <p:spPr>
          <a:xfrm>
            <a:off x="7470648" y="3215640"/>
            <a:ext cx="109728" cy="109728"/>
          </a:xfrm>
          <a:prstGeom prst="ellipse">
            <a:avLst/>
          </a:prstGeom>
          <a:solidFill>
            <a:srgbClr val="F96167"/>
          </a:solidFill>
          <a:ln/>
        </p:spPr>
      </p:sp>
      <p:sp>
        <p:nvSpPr>
          <p:cNvPr id="9" name="Text 6"/>
          <p:cNvSpPr/>
          <p:nvPr/>
        </p:nvSpPr>
        <p:spPr>
          <a:xfrm>
            <a:off x="7726680" y="3087624"/>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Philippines sits in a moderate spend bracket — affordable yet sustainable for margins.</a:t>
            </a:r>
            <a:endParaRPr lang="en-US" sz="1450" dirty="0"/>
          </a:p>
        </p:txBody>
      </p:sp>
      <p:sp>
        <p:nvSpPr>
          <p:cNvPr id="10" name="Shape 7"/>
          <p:cNvSpPr/>
          <p:nvPr/>
        </p:nvSpPr>
        <p:spPr>
          <a:xfrm>
            <a:off x="7470648" y="4474464"/>
            <a:ext cx="109728" cy="109728"/>
          </a:xfrm>
          <a:prstGeom prst="ellipse">
            <a:avLst/>
          </a:prstGeom>
          <a:solidFill>
            <a:srgbClr val="F96167"/>
          </a:solidFill>
          <a:ln/>
        </p:spPr>
      </p:sp>
      <p:sp>
        <p:nvSpPr>
          <p:cNvPr id="11" name="Text 8"/>
          <p:cNvSpPr/>
          <p:nvPr/>
        </p:nvSpPr>
        <p:spPr>
          <a:xfrm>
            <a:off x="7726680" y="4346448"/>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New Zealand commands premium pricing (~₹2,300), suiting a higher-margin positioning.</a:t>
            </a:r>
            <a:endParaRPr lang="en-US" sz="1450" dirty="0"/>
          </a:p>
        </p:txBody>
      </p:sp>
      <p:sp>
        <p:nvSpPr>
          <p:cNvPr id="12" name="Text 9"/>
          <p:cNvSpPr/>
          <p:nvPr/>
        </p:nvSpPr>
        <p:spPr>
          <a:xfrm>
            <a:off x="548640" y="6473952"/>
            <a:ext cx="45720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Zomato Expansion Strategy</a:t>
            </a:r>
            <a:endParaRPr lang="en-US" sz="950" dirty="0"/>
          </a:p>
        </p:txBody>
      </p:sp>
      <p:sp>
        <p:nvSpPr>
          <p:cNvPr id="13" name="Text 10"/>
          <p:cNvSpPr/>
          <p:nvPr/>
        </p:nvSpPr>
        <p:spPr>
          <a:xfrm>
            <a:off x="11274552" y="6473952"/>
            <a:ext cx="36576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D9484E"/>
                </a:solidFill>
                <a:latin typeface="Calibri" pitchFamily="34" charset="0"/>
                <a:ea typeface="Calibri" pitchFamily="34" charset="-122"/>
                <a:cs typeface="Calibri" pitchFamily="34" charset="-120"/>
              </a:rPr>
              <a:t>ANALYSIS 4 OF 6</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32C5E"/>
                </a:solidFill>
                <a:latin typeface="Cambria" pitchFamily="34" charset="0"/>
                <a:ea typeface="Cambria" pitchFamily="34" charset="-122"/>
                <a:cs typeface="Cambria" pitchFamily="34" charset="-120"/>
              </a:rPr>
              <a:t>Online Delivery Impact on Ratings</a:t>
            </a:r>
            <a:endParaRPr lang="en-US" sz="3000" dirty="0"/>
          </a:p>
        </p:txBody>
      </p:sp>
      <p:graphicFrame>
        <p:nvGraphicFramePr>
          <p:cNvPr id="4" name="Chart 0" descr=""/>
          <p:cNvGraphicFramePr/>
          <p:nvPr/>
        </p:nvGraphicFramePr>
        <p:xfrm>
          <a:off x="548640" y="1645920"/>
          <a:ext cx="6446520" cy="4251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178040" y="1645920"/>
            <a:ext cx="4462272" cy="4251960"/>
          </a:xfrm>
          <a:prstGeom prst="roundRect">
            <a:avLst>
              <a:gd name="adj" fmla="val 1935"/>
            </a:avLst>
          </a:prstGeom>
          <a:solidFill>
            <a:srgbClr val="FDEDEE"/>
          </a:solidFill>
          <a:ln w="12700">
            <a:solidFill>
              <a:srgbClr val="FFFFFF"/>
            </a:solidFill>
            <a:prstDash val="solid"/>
          </a:ln>
          <a:effectLst>
            <a:outerShdw sx="100000" sy="100000" kx="0" ky="0" algn="bl" rotWithShape="0" blurRad="101600" dist="38100" dir="5400000">
              <a:srgbClr val="000000">
                <a:alpha val="8000"/>
              </a:srgbClr>
            </a:outerShdw>
          </a:effectLst>
        </p:spPr>
      </p:sp>
      <p:sp>
        <p:nvSpPr>
          <p:cNvPr id="6" name="Shape 3"/>
          <p:cNvSpPr/>
          <p:nvPr/>
        </p:nvSpPr>
        <p:spPr>
          <a:xfrm>
            <a:off x="7470648" y="1956816"/>
            <a:ext cx="109728" cy="109728"/>
          </a:xfrm>
          <a:prstGeom prst="ellipse">
            <a:avLst/>
          </a:prstGeom>
          <a:solidFill>
            <a:srgbClr val="F96167"/>
          </a:solidFill>
          <a:ln/>
        </p:spPr>
      </p:sp>
      <p:sp>
        <p:nvSpPr>
          <p:cNvPr id="7" name="Text 4"/>
          <p:cNvSpPr/>
          <p:nvPr/>
        </p:nvSpPr>
        <p:spPr>
          <a:xfrm>
            <a:off x="7726680" y="1828800"/>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Restaurants offering online delivery average a 0.7-point higher rating than those without.</a:t>
            </a:r>
            <a:endParaRPr lang="en-US" sz="1450" dirty="0"/>
          </a:p>
        </p:txBody>
      </p:sp>
      <p:sp>
        <p:nvSpPr>
          <p:cNvPr id="8" name="Shape 5"/>
          <p:cNvSpPr/>
          <p:nvPr/>
        </p:nvSpPr>
        <p:spPr>
          <a:xfrm>
            <a:off x="7470648" y="3215640"/>
            <a:ext cx="109728" cy="109728"/>
          </a:xfrm>
          <a:prstGeom prst="ellipse">
            <a:avLst/>
          </a:prstGeom>
          <a:solidFill>
            <a:srgbClr val="F96167"/>
          </a:solidFill>
          <a:ln/>
        </p:spPr>
      </p:sp>
      <p:sp>
        <p:nvSpPr>
          <p:cNvPr id="9" name="Text 6"/>
          <p:cNvSpPr/>
          <p:nvPr/>
        </p:nvSpPr>
        <p:spPr>
          <a:xfrm>
            <a:off x="7726680" y="3087624"/>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Delivery availability is strongly linked to greater customer convenience and satisfaction.</a:t>
            </a:r>
            <a:endParaRPr lang="en-US" sz="1450" dirty="0"/>
          </a:p>
        </p:txBody>
      </p:sp>
      <p:sp>
        <p:nvSpPr>
          <p:cNvPr id="10" name="Shape 7"/>
          <p:cNvSpPr/>
          <p:nvPr/>
        </p:nvSpPr>
        <p:spPr>
          <a:xfrm>
            <a:off x="7470648" y="4474464"/>
            <a:ext cx="109728" cy="109728"/>
          </a:xfrm>
          <a:prstGeom prst="ellipse">
            <a:avLst/>
          </a:prstGeom>
          <a:solidFill>
            <a:srgbClr val="F96167"/>
          </a:solidFill>
          <a:ln/>
        </p:spPr>
      </p:sp>
      <p:sp>
        <p:nvSpPr>
          <p:cNvPr id="11" name="Text 8"/>
          <p:cNvSpPr/>
          <p:nvPr/>
        </p:nvSpPr>
        <p:spPr>
          <a:xfrm>
            <a:off x="7726680" y="4346448"/>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Recommended as a standard offering across all newly launched outlets.</a:t>
            </a:r>
            <a:endParaRPr lang="en-US" sz="1450" dirty="0"/>
          </a:p>
        </p:txBody>
      </p:sp>
      <p:sp>
        <p:nvSpPr>
          <p:cNvPr id="12" name="Text 9"/>
          <p:cNvSpPr/>
          <p:nvPr/>
        </p:nvSpPr>
        <p:spPr>
          <a:xfrm>
            <a:off x="548640" y="6473952"/>
            <a:ext cx="45720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Zomato Expansion Strategy</a:t>
            </a:r>
            <a:endParaRPr lang="en-US" sz="950" dirty="0"/>
          </a:p>
        </p:txBody>
      </p:sp>
      <p:sp>
        <p:nvSpPr>
          <p:cNvPr id="13" name="Text 10"/>
          <p:cNvSpPr/>
          <p:nvPr/>
        </p:nvSpPr>
        <p:spPr>
          <a:xfrm>
            <a:off x="11274552" y="6473952"/>
            <a:ext cx="36576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D9484E"/>
                </a:solidFill>
                <a:latin typeface="Calibri" pitchFamily="34" charset="0"/>
                <a:ea typeface="Calibri" pitchFamily="34" charset="-122"/>
                <a:cs typeface="Calibri" pitchFamily="34" charset="-120"/>
              </a:rPr>
              <a:t>ANALYSIS 5 OF 6</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32C5E"/>
                </a:solidFill>
                <a:latin typeface="Cambria" pitchFamily="34" charset="0"/>
                <a:ea typeface="Cambria" pitchFamily="34" charset="-122"/>
                <a:cs typeface="Cambria" pitchFamily="34" charset="-120"/>
              </a:rPr>
              <a:t>Table Booking Impact on Ratings</a:t>
            </a:r>
            <a:endParaRPr lang="en-US" sz="3000" dirty="0"/>
          </a:p>
        </p:txBody>
      </p:sp>
      <p:graphicFrame>
        <p:nvGraphicFramePr>
          <p:cNvPr id="4" name="Chart 0" descr=""/>
          <p:cNvGraphicFramePr/>
          <p:nvPr/>
        </p:nvGraphicFramePr>
        <p:xfrm>
          <a:off x="548640" y="1645920"/>
          <a:ext cx="6446520" cy="4251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178040" y="1645920"/>
            <a:ext cx="4462272" cy="4251960"/>
          </a:xfrm>
          <a:prstGeom prst="roundRect">
            <a:avLst>
              <a:gd name="adj" fmla="val 1935"/>
            </a:avLst>
          </a:prstGeom>
          <a:solidFill>
            <a:srgbClr val="FDEDEE"/>
          </a:solidFill>
          <a:ln w="12700">
            <a:solidFill>
              <a:srgbClr val="FFFFFF"/>
            </a:solidFill>
            <a:prstDash val="solid"/>
          </a:ln>
          <a:effectLst>
            <a:outerShdw sx="100000" sy="100000" kx="0" ky="0" algn="bl" rotWithShape="0" blurRad="101600" dist="38100" dir="5400000">
              <a:srgbClr val="000000">
                <a:alpha val="8000"/>
              </a:srgbClr>
            </a:outerShdw>
          </a:effectLst>
        </p:spPr>
      </p:sp>
      <p:sp>
        <p:nvSpPr>
          <p:cNvPr id="6" name="Shape 3"/>
          <p:cNvSpPr/>
          <p:nvPr/>
        </p:nvSpPr>
        <p:spPr>
          <a:xfrm>
            <a:off x="7470648" y="1956816"/>
            <a:ext cx="109728" cy="109728"/>
          </a:xfrm>
          <a:prstGeom prst="ellipse">
            <a:avLst/>
          </a:prstGeom>
          <a:solidFill>
            <a:srgbClr val="F96167"/>
          </a:solidFill>
          <a:ln/>
        </p:spPr>
      </p:sp>
      <p:sp>
        <p:nvSpPr>
          <p:cNvPr id="7" name="Text 4"/>
          <p:cNvSpPr/>
          <p:nvPr/>
        </p:nvSpPr>
        <p:spPr>
          <a:xfrm>
            <a:off x="7726680" y="1828800"/>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Outlets with table booking enabled average 4.3 vs. 3.55 for those without.</a:t>
            </a:r>
            <a:endParaRPr lang="en-US" sz="1450" dirty="0"/>
          </a:p>
        </p:txBody>
      </p:sp>
      <p:sp>
        <p:nvSpPr>
          <p:cNvPr id="8" name="Shape 5"/>
          <p:cNvSpPr/>
          <p:nvPr/>
        </p:nvSpPr>
        <p:spPr>
          <a:xfrm>
            <a:off x="7470648" y="3215640"/>
            <a:ext cx="109728" cy="109728"/>
          </a:xfrm>
          <a:prstGeom prst="ellipse">
            <a:avLst/>
          </a:prstGeom>
          <a:solidFill>
            <a:srgbClr val="F96167"/>
          </a:solidFill>
          <a:ln/>
        </p:spPr>
      </p:sp>
      <p:sp>
        <p:nvSpPr>
          <p:cNvPr id="9" name="Text 6"/>
          <p:cNvSpPr/>
          <p:nvPr/>
        </p:nvSpPr>
        <p:spPr>
          <a:xfrm>
            <a:off x="7726680" y="3087624"/>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Table booking acts as a signal of a premium, planned dining experience.</a:t>
            </a:r>
            <a:endParaRPr lang="en-US" sz="1450" dirty="0"/>
          </a:p>
        </p:txBody>
      </p:sp>
      <p:sp>
        <p:nvSpPr>
          <p:cNvPr id="10" name="Shape 7"/>
          <p:cNvSpPr/>
          <p:nvPr/>
        </p:nvSpPr>
        <p:spPr>
          <a:xfrm>
            <a:off x="7470648" y="4474464"/>
            <a:ext cx="109728" cy="109728"/>
          </a:xfrm>
          <a:prstGeom prst="ellipse">
            <a:avLst/>
          </a:prstGeom>
          <a:solidFill>
            <a:srgbClr val="F96167"/>
          </a:solidFill>
          <a:ln/>
        </p:spPr>
      </p:sp>
      <p:sp>
        <p:nvSpPr>
          <p:cNvPr id="11" name="Text 8"/>
          <p:cNvSpPr/>
          <p:nvPr/>
        </p:nvSpPr>
        <p:spPr>
          <a:xfrm>
            <a:off x="7726680" y="4346448"/>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Improves customer perception and is worth prioritizing in flagship locations.</a:t>
            </a:r>
            <a:endParaRPr lang="en-US" sz="1450" dirty="0"/>
          </a:p>
        </p:txBody>
      </p:sp>
      <p:sp>
        <p:nvSpPr>
          <p:cNvPr id="12" name="Text 9"/>
          <p:cNvSpPr/>
          <p:nvPr/>
        </p:nvSpPr>
        <p:spPr>
          <a:xfrm>
            <a:off x="548640" y="6473952"/>
            <a:ext cx="45720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Zomato Expansion Strategy</a:t>
            </a:r>
            <a:endParaRPr lang="en-US" sz="950" dirty="0"/>
          </a:p>
        </p:txBody>
      </p:sp>
      <p:sp>
        <p:nvSpPr>
          <p:cNvPr id="13" name="Text 10"/>
          <p:cNvSpPr/>
          <p:nvPr/>
        </p:nvSpPr>
        <p:spPr>
          <a:xfrm>
            <a:off x="11274552" y="6473952"/>
            <a:ext cx="36576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D9484E"/>
                </a:solidFill>
                <a:latin typeface="Calibri" pitchFamily="34" charset="0"/>
                <a:ea typeface="Calibri" pitchFamily="34" charset="-122"/>
                <a:cs typeface="Calibri" pitchFamily="34" charset="-120"/>
              </a:rPr>
              <a:t>ANALYSIS 6 OF 6</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32C5E"/>
                </a:solidFill>
                <a:latin typeface="Cambria" pitchFamily="34" charset="0"/>
                <a:ea typeface="Cambria" pitchFamily="34" charset="-122"/>
                <a:cs typeface="Cambria" pitchFamily="34" charset="-120"/>
              </a:rPr>
              <a:t>Cuisine Performance</a:t>
            </a:r>
            <a:endParaRPr lang="en-US" sz="3000" dirty="0"/>
          </a:p>
        </p:txBody>
      </p:sp>
      <p:graphicFrame>
        <p:nvGraphicFramePr>
          <p:cNvPr id="4" name="Chart 0" descr=""/>
          <p:cNvGraphicFramePr/>
          <p:nvPr/>
        </p:nvGraphicFramePr>
        <p:xfrm>
          <a:off x="548640" y="1645920"/>
          <a:ext cx="6446520" cy="4251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178040" y="1645920"/>
            <a:ext cx="4462272" cy="4251960"/>
          </a:xfrm>
          <a:prstGeom prst="roundRect">
            <a:avLst>
              <a:gd name="adj" fmla="val 1935"/>
            </a:avLst>
          </a:prstGeom>
          <a:solidFill>
            <a:srgbClr val="FDEDEE"/>
          </a:solidFill>
          <a:ln w="12700">
            <a:solidFill>
              <a:srgbClr val="FFFFFF"/>
            </a:solidFill>
            <a:prstDash val="solid"/>
          </a:ln>
          <a:effectLst>
            <a:outerShdw sx="100000" sy="100000" kx="0" ky="0" algn="bl" rotWithShape="0" blurRad="101600" dist="38100" dir="5400000">
              <a:srgbClr val="000000">
                <a:alpha val="8000"/>
              </a:srgbClr>
            </a:outerShdw>
          </a:effectLst>
        </p:spPr>
      </p:sp>
      <p:sp>
        <p:nvSpPr>
          <p:cNvPr id="6" name="Shape 3"/>
          <p:cNvSpPr/>
          <p:nvPr/>
        </p:nvSpPr>
        <p:spPr>
          <a:xfrm>
            <a:off x="7470648" y="1956816"/>
            <a:ext cx="109728" cy="109728"/>
          </a:xfrm>
          <a:prstGeom prst="ellipse">
            <a:avLst/>
          </a:prstGeom>
          <a:solidFill>
            <a:srgbClr val="F96167"/>
          </a:solidFill>
          <a:ln/>
        </p:spPr>
      </p:sp>
      <p:sp>
        <p:nvSpPr>
          <p:cNvPr id="7" name="Text 4"/>
          <p:cNvSpPr/>
          <p:nvPr/>
        </p:nvSpPr>
        <p:spPr>
          <a:xfrm>
            <a:off x="7726680" y="1828800"/>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Continental, Italian, and Cafe cuisines post the highest average ratings.</a:t>
            </a:r>
            <a:endParaRPr lang="en-US" sz="1450" dirty="0"/>
          </a:p>
        </p:txBody>
      </p:sp>
      <p:sp>
        <p:nvSpPr>
          <p:cNvPr id="8" name="Shape 5"/>
          <p:cNvSpPr/>
          <p:nvPr/>
        </p:nvSpPr>
        <p:spPr>
          <a:xfrm>
            <a:off x="7470648" y="3215640"/>
            <a:ext cx="109728" cy="109728"/>
          </a:xfrm>
          <a:prstGeom prst="ellipse">
            <a:avLst/>
          </a:prstGeom>
          <a:solidFill>
            <a:srgbClr val="F96167"/>
          </a:solidFill>
          <a:ln/>
        </p:spPr>
      </p:sp>
      <p:sp>
        <p:nvSpPr>
          <p:cNvPr id="9" name="Text 6"/>
          <p:cNvSpPr/>
          <p:nvPr/>
        </p:nvSpPr>
        <p:spPr>
          <a:xfrm>
            <a:off x="7726680" y="3087624"/>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North Indian cuisine is highly saturated and shows comparatively lower average ratings.</a:t>
            </a:r>
            <a:endParaRPr lang="en-US" sz="1450" dirty="0"/>
          </a:p>
        </p:txBody>
      </p:sp>
      <p:sp>
        <p:nvSpPr>
          <p:cNvPr id="10" name="Shape 7"/>
          <p:cNvSpPr/>
          <p:nvPr/>
        </p:nvSpPr>
        <p:spPr>
          <a:xfrm>
            <a:off x="7470648" y="4474464"/>
            <a:ext cx="109728" cy="109728"/>
          </a:xfrm>
          <a:prstGeom prst="ellipse">
            <a:avLst/>
          </a:prstGeom>
          <a:solidFill>
            <a:srgbClr val="F96167"/>
          </a:solidFill>
          <a:ln/>
        </p:spPr>
      </p:sp>
      <p:sp>
        <p:nvSpPr>
          <p:cNvPr id="11" name="Text 8"/>
          <p:cNvSpPr/>
          <p:nvPr/>
        </p:nvSpPr>
        <p:spPr>
          <a:xfrm>
            <a:off x="7726680" y="4346448"/>
            <a:ext cx="3621024" cy="1258824"/>
          </a:xfrm>
          <a:prstGeom prst="rect">
            <a:avLst/>
          </a:prstGeom>
          <a:noFill/>
          <a:ln/>
        </p:spPr>
        <p:txBody>
          <a:bodyPr wrap="square" lIns="0" tIns="0" rIns="0" bIns="0" rtlCol="0" anchor="t"/>
          <a:lstStyle/>
          <a:p>
            <a:pPr indent="0" marL="0">
              <a:lnSpc>
                <a:spcPct val="108000"/>
              </a:lnSpc>
              <a:buNone/>
            </a:pPr>
            <a:r>
              <a:rPr lang="en-US" sz="1450" dirty="0">
                <a:solidFill>
                  <a:srgbClr val="26293D"/>
                </a:solidFill>
                <a:latin typeface="Calibri" pitchFamily="34" charset="0"/>
                <a:ea typeface="Calibri" pitchFamily="34" charset="-122"/>
                <a:cs typeface="Calibri" pitchFamily="34" charset="-120"/>
              </a:rPr>
              <a:t>New outlets should prioritize high-rated, less-saturated cuisine categories.</a:t>
            </a:r>
            <a:endParaRPr lang="en-US" sz="1450" dirty="0"/>
          </a:p>
        </p:txBody>
      </p:sp>
      <p:sp>
        <p:nvSpPr>
          <p:cNvPr id="12" name="Text 9"/>
          <p:cNvSpPr/>
          <p:nvPr/>
        </p:nvSpPr>
        <p:spPr>
          <a:xfrm>
            <a:off x="548640" y="6473952"/>
            <a:ext cx="45720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Zomato Expansion Strategy</a:t>
            </a:r>
            <a:endParaRPr lang="en-US" sz="950" dirty="0"/>
          </a:p>
        </p:txBody>
      </p:sp>
      <p:sp>
        <p:nvSpPr>
          <p:cNvPr id="13" name="Text 10"/>
          <p:cNvSpPr/>
          <p:nvPr/>
        </p:nvSpPr>
        <p:spPr>
          <a:xfrm>
            <a:off x="11274552" y="6473952"/>
            <a:ext cx="36576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32C5E"/>
        </a:solidFill>
      </p:bgPr>
    </p:bg>
    <p:spTree>
      <p:nvGrpSpPr>
        <p:cNvPr id="1" name=""/>
        <p:cNvGrpSpPr/>
        <p:nvPr/>
      </p:nvGrpSpPr>
      <p:grpSpPr>
        <a:xfrm>
          <a:off x="0" y="0"/>
          <a:ext cx="0" cy="0"/>
          <a:chOff x="0" y="0"/>
          <a:chExt cx="0" cy="0"/>
        </a:xfrm>
      </p:grpSpPr>
      <p:sp>
        <p:nvSpPr>
          <p:cNvPr id="2" name="Shape 0"/>
          <p:cNvSpPr/>
          <p:nvPr/>
        </p:nvSpPr>
        <p:spPr>
          <a:xfrm>
            <a:off x="9875520" y="-1645920"/>
            <a:ext cx="5029200" cy="5029200"/>
          </a:xfrm>
          <a:prstGeom prst="ellipse">
            <a:avLst/>
          </a:prstGeom>
          <a:solidFill>
            <a:srgbClr val="2F3C7E">
              <a:alpha val="65000"/>
            </a:srgbClr>
          </a:solidFill>
          <a:ln/>
        </p:spPr>
      </p:sp>
      <p:sp>
        <p:nvSpPr>
          <p:cNvPr id="3" name="Shape 1"/>
          <p:cNvSpPr/>
          <p:nvPr/>
        </p:nvSpPr>
        <p:spPr>
          <a:xfrm>
            <a:off x="-1463040" y="4572000"/>
            <a:ext cx="3291840" cy="3291840"/>
          </a:xfrm>
          <a:prstGeom prst="ellipse">
            <a:avLst/>
          </a:prstGeom>
          <a:solidFill>
            <a:srgbClr val="F96167">
              <a:alpha val="20000"/>
            </a:srgbClr>
          </a:solidFill>
          <a:ln/>
        </p:spPr>
      </p:sp>
      <p:sp>
        <p:nvSpPr>
          <p:cNvPr id="4" name="Text 2"/>
          <p:cNvSpPr/>
          <p:nvPr/>
        </p:nvSpPr>
        <p:spPr>
          <a:xfrm>
            <a:off x="548640" y="502920"/>
            <a:ext cx="7315200" cy="320040"/>
          </a:xfrm>
          <a:prstGeom prst="rect">
            <a:avLst/>
          </a:prstGeom>
          <a:noFill/>
          <a:ln/>
        </p:spPr>
        <p:txBody>
          <a:bodyPr wrap="square" lIns="0" tIns="0" rIns="0" bIns="0" rtlCol="0" anchor="ctr"/>
          <a:lstStyle/>
          <a:p>
            <a:pPr indent="0" marL="0">
              <a:buNone/>
            </a:pPr>
            <a:r>
              <a:rPr lang="en-US" sz="1300" b="1" spc="200" kern="0" dirty="0">
                <a:solidFill>
                  <a:srgbClr val="F9E795"/>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548640" y="804672"/>
            <a:ext cx="105156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6" name="Shape 4"/>
          <p:cNvSpPr/>
          <p:nvPr/>
        </p:nvSpPr>
        <p:spPr>
          <a:xfrm>
            <a:off x="1143000" y="1966976"/>
            <a:ext cx="9906000" cy="3390900"/>
          </a:xfrm>
          <a:prstGeom prst="roundRect">
            <a:avLst>
              <a:gd name="adj" fmla="val 3636"/>
            </a:avLst>
          </a:prstGeom>
          <a:solidFill>
            <a:srgbClr val="FFFFFF"/>
          </a:solidFill>
          <a:ln/>
          <a:effectLst>
            <a:outerShdw sx="100000" sy="100000" kx="0" ky="0" algn="bl" rotWithShape="0" blurRad="152400" dist="63500" dir="5400000">
              <a:srgbClr val="000000">
                <a:alpha val="20000"/>
              </a:srgbClr>
            </a:outerShdw>
          </a:effectLst>
        </p:spPr>
      </p:sp>
      <p:sp>
        <p:nvSpPr>
          <p:cNvPr id="7" name="Shape 5"/>
          <p:cNvSpPr/>
          <p:nvPr/>
        </p:nvSpPr>
        <p:spPr>
          <a:xfrm>
            <a:off x="5896000" y="2258576"/>
            <a:ext cx="800080" cy="800080"/>
          </a:xfrm>
          <a:prstGeom prst="ellipse">
            <a:avLst/>
          </a:prstGeom>
          <a:solidFill>
            <a:srgbClr val="F96167"/>
          </a:solidFill>
          <a:ln/>
        </p:spPr>
      </p:sp>
      <p:pic>
        <p:nvPicPr>
          <p:cNvPr id="8" name="Image 0" descr="preencoded.png"/>
          <p:cNvPicPr>
            <a:picLocks noChangeAspect="1"/>
          </p:cNvPicPr>
          <p:nvPr/>
        </p:nvPicPr>
        <p:blipFill>
          <a:blip r:embed="rId1"/>
          <a:stretch>
            <a:fillRect/>
          </a:stretch>
        </p:blipFill>
        <p:spPr>
          <a:xfrm>
            <a:off x="6092240" y="2454816"/>
            <a:ext cx="407600" cy="407600"/>
          </a:xfrm>
          <a:prstGeom prst="rect">
            <a:avLst/>
          </a:prstGeom>
        </p:spPr>
      </p:pic>
      <p:sp>
        <p:nvSpPr>
          <p:cNvPr id="9" name="Text 6"/>
          <p:cNvSpPr/>
          <p:nvPr/>
        </p:nvSpPr>
        <p:spPr>
          <a:xfrm>
            <a:off x="1691640" y="3220720"/>
            <a:ext cx="8808720" cy="1097280"/>
          </a:xfrm>
          <a:prstGeom prst="rect">
            <a:avLst/>
          </a:prstGeom>
          <a:noFill/>
          <a:ln/>
        </p:spPr>
        <p:txBody>
          <a:bodyPr wrap="square" lIns="0" tIns="0" rIns="0" bIns="0" rtlCol="0" anchor="ctr"/>
          <a:lstStyle/>
          <a:p>
            <a:pPr algn="ctr" indent="0" marL="0">
              <a:lnSpc>
                <a:spcPct val="130000"/>
              </a:lnSpc>
              <a:buNone/>
            </a:pPr>
            <a:r>
              <a:rPr lang="en-US" sz="2000" b="1" i="1" dirty="0">
                <a:solidFill>
                  <a:srgbClr val="232C5E"/>
                </a:solidFill>
                <a:latin typeface="Cambria" pitchFamily="34" charset="0"/>
                <a:ea typeface="Cambria" pitchFamily="34" charset="-122"/>
                <a:cs typeface="Cambria" pitchFamily="34" charset="-120"/>
              </a:rPr>
              <a:t>A phased entry into Philippines, Turkey, and New Zealand — backed by delivery, booking, and the right cuisine mix — offers the strongest risk-adjusted growth path.</a:t>
            </a:r>
            <a:endParaRPr lang="en-US" sz="2000" dirty="0"/>
          </a:p>
        </p:txBody>
      </p:sp>
      <p:sp>
        <p:nvSpPr>
          <p:cNvPr id="10" name="Shape 8"/>
          <p:cNvSpPr/>
          <p:nvPr/>
        </p:nvSpPr>
        <p:spPr>
          <a:xfrm>
            <a:off x="1691640" y="4526280"/>
            <a:ext cx="2661920" cy="548640"/>
          </a:xfrm>
          <a:prstGeom prst="roundRect">
            <a:avLst>
              <a:gd name="adj" fmla="val 50000"/>
            </a:avLst>
          </a:prstGeom>
          <a:solidFill>
            <a:srgbClr val="2F3C7E"/>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Philippines</a:t>
            </a:r>
            <a:endParaRPr lang="en-US" sz="1300" dirty="0"/>
          </a:p>
        </p:txBody>
      </p:sp>
      <p:sp>
        <p:nvSpPr>
          <p:cNvPr id="11" name="Shape 9"/>
          <p:cNvSpPr/>
          <p:nvPr/>
        </p:nvSpPr>
        <p:spPr>
          <a:xfrm>
            <a:off x="4765040" y="4526280"/>
            <a:ext cx="2661920" cy="548640"/>
          </a:xfrm>
          <a:prstGeom prst="roundRect">
            <a:avLst>
              <a:gd name="adj" fmla="val 50000"/>
            </a:avLst>
          </a:prstGeom>
          <a:solidFill>
            <a:srgbClr val="F96167"/>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Turkey</a:t>
            </a:r>
            <a:endParaRPr lang="en-US" sz="1300" dirty="0"/>
          </a:p>
        </p:txBody>
      </p:sp>
      <p:sp>
        <p:nvSpPr>
          <p:cNvPr id="12" name="Shape 10"/>
          <p:cNvSpPr/>
          <p:nvPr/>
        </p:nvSpPr>
        <p:spPr>
          <a:xfrm>
            <a:off x="7838440" y="4526280"/>
            <a:ext cx="2661920" cy="548640"/>
          </a:xfrm>
          <a:prstGeom prst="roundRect">
            <a:avLst>
              <a:gd name="adj" fmla="val 50000"/>
            </a:avLst>
          </a:prstGeom>
          <a:solidFill>
            <a:srgbClr val="F9E795"/>
          </a:solidFill>
          <a:ln/>
        </p:spPr>
        <p:txBody>
          <a:bodyPr wrap="square" lIns="0" tIns="0" rIns="0" bIns="0" rtlCol="0" anchor="ctr"/>
          <a:lstStyle/>
          <a:p>
            <a:pPr algn="ctr" indent="0" marL="0">
              <a:buNone/>
            </a:pPr>
            <a:r>
              <a:rPr lang="en-US" sz="1300" b="1" dirty="0">
                <a:solidFill>
                  <a:srgbClr val="232C5E"/>
                </a:solidFill>
                <a:latin typeface="Calibri" pitchFamily="34" charset="0"/>
                <a:ea typeface="Calibri" pitchFamily="34" charset="-122"/>
                <a:cs typeface="Calibri" pitchFamily="34" charset="-120"/>
              </a:rPr>
              <a:t>New Zealand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D9484E"/>
                </a:solidFill>
                <a:latin typeface="Calibri" pitchFamily="34" charset="0"/>
                <a:ea typeface="Calibri" pitchFamily="34" charset="-122"/>
                <a:cs typeface="Calibri" pitchFamily="34" charset="-120"/>
              </a:rPr>
              <a:t>SUPPORTING DETAIL</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32C5E"/>
                </a:solidFill>
                <a:latin typeface="Cambria" pitchFamily="34" charset="0"/>
                <a:ea typeface="Cambria" pitchFamily="34" charset="-122"/>
                <a:cs typeface="Cambria" pitchFamily="34" charset="-120"/>
              </a:rPr>
              <a:t>Expansion Analytics Dashboard</a:t>
            </a:r>
            <a:endParaRPr lang="en-US" sz="3000" dirty="0"/>
          </a:p>
        </p:txBody>
      </p:sp>
      <p:sp>
        <p:nvSpPr>
          <p:cNvPr id="4" name="Text 2"/>
          <p:cNvSpPr/>
          <p:nvPr/>
        </p:nvSpPr>
        <p:spPr>
          <a:xfrm>
            <a:off x="548640" y="1627632"/>
            <a:ext cx="10515600" cy="45720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Interactive dashboard summarizing market scores, ratings, and pricing benchmarks across all candidate countries.</a:t>
            </a:r>
            <a:endParaRPr lang="en-US" sz="1400" dirty="0"/>
          </a:p>
        </p:txBody>
      </p:sp>
      <p:pic>
        <p:nvPicPr>
          <p:cNvPr id="5" name="Image 0" descr="/home/claude/zomato/images/dashboard.png"/>
          <p:cNvPicPr>
            <a:picLocks noChangeAspect="1"/>
          </p:cNvPicPr>
          <p:nvPr/>
        </p:nvPicPr>
        <p:blipFill>
          <a:blip r:embed="rId1"/>
          <a:srcRect l="0" r="0" t="0" b="0"/>
          <a:stretch/>
        </p:blipFill>
        <p:spPr>
          <a:xfrm>
            <a:off x="548640" y="2148840"/>
            <a:ext cx="11091672" cy="4160520"/>
          </a:xfrm>
          <a:prstGeom prst="rect">
            <a:avLst/>
          </a:prstGeom>
          <a:effectLst>
            <a:outerShdw sx="100000" sy="100000" kx="0" ky="0" algn="bl" rotWithShape="0" blurRad="177800" dist="63500" dir="5400000">
              <a:srgbClr val="000000">
                <a:alpha val="18000"/>
              </a:srgbClr>
            </a:outerShdw>
          </a:effectLst>
        </p:spPr>
      </p:pic>
      <p:sp>
        <p:nvSpPr>
          <p:cNvPr id="6" name="Text 3"/>
          <p:cNvSpPr/>
          <p:nvPr/>
        </p:nvSpPr>
        <p:spPr>
          <a:xfrm>
            <a:off x="548640" y="6473952"/>
            <a:ext cx="45720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Zomato Expansion Strategy</a:t>
            </a:r>
            <a:endParaRPr lang="en-US" sz="950" dirty="0"/>
          </a:p>
        </p:txBody>
      </p:sp>
      <p:sp>
        <p:nvSpPr>
          <p:cNvPr id="7" name="Text 4"/>
          <p:cNvSpPr/>
          <p:nvPr/>
        </p:nvSpPr>
        <p:spPr>
          <a:xfrm>
            <a:off x="11274552" y="6473952"/>
            <a:ext cx="36576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232C5E"/>
        </a:solidFill>
      </p:bgPr>
    </p:bg>
    <p:spTree>
      <p:nvGrpSpPr>
        <p:cNvPr id="1" name=""/>
        <p:cNvGrpSpPr/>
        <p:nvPr/>
      </p:nvGrpSpPr>
      <p:grpSpPr>
        <a:xfrm>
          <a:off x="0" y="0"/>
          <a:ext cx="0" cy="0"/>
          <a:chOff x="0" y="0"/>
          <a:chExt cx="0" cy="0"/>
        </a:xfrm>
      </p:grpSpPr>
      <p:sp>
        <p:nvSpPr>
          <p:cNvPr id="2" name="Shape 0"/>
          <p:cNvSpPr/>
          <p:nvPr/>
        </p:nvSpPr>
        <p:spPr>
          <a:xfrm>
            <a:off x="9875520" y="-1645920"/>
            <a:ext cx="5029200" cy="5029200"/>
          </a:xfrm>
          <a:prstGeom prst="ellipse">
            <a:avLst/>
          </a:prstGeom>
          <a:solidFill>
            <a:srgbClr val="2F3C7E">
              <a:alpha val="65000"/>
            </a:srgbClr>
          </a:solidFill>
          <a:ln/>
        </p:spPr>
      </p:sp>
      <p:sp>
        <p:nvSpPr>
          <p:cNvPr id="3" name="Shape 1"/>
          <p:cNvSpPr/>
          <p:nvPr/>
        </p:nvSpPr>
        <p:spPr>
          <a:xfrm>
            <a:off x="-1463040" y="4572000"/>
            <a:ext cx="3291840" cy="3291840"/>
          </a:xfrm>
          <a:prstGeom prst="ellipse">
            <a:avLst/>
          </a:prstGeom>
          <a:solidFill>
            <a:srgbClr val="F96167">
              <a:alpha val="20000"/>
            </a:srgbClr>
          </a:solidFill>
          <a:ln/>
        </p:spPr>
      </p:sp>
      <p:sp>
        <p:nvSpPr>
          <p:cNvPr id="4" name="Text 2"/>
          <p:cNvSpPr/>
          <p:nvPr/>
        </p:nvSpPr>
        <p:spPr>
          <a:xfrm>
            <a:off x="548640" y="502920"/>
            <a:ext cx="7315200" cy="320040"/>
          </a:xfrm>
          <a:prstGeom prst="rect">
            <a:avLst/>
          </a:prstGeom>
          <a:noFill/>
          <a:ln/>
        </p:spPr>
        <p:txBody>
          <a:bodyPr wrap="square" lIns="0" tIns="0" rIns="0" bIns="0" rtlCol="0" anchor="ctr"/>
          <a:lstStyle/>
          <a:p>
            <a:pPr indent="0" marL="0">
              <a:buNone/>
            </a:pPr>
            <a:r>
              <a:rPr lang="en-US" sz="1300" b="1" spc="200" kern="0" dirty="0">
                <a:solidFill>
                  <a:srgbClr val="F9E795"/>
                </a:solidFill>
                <a:latin typeface="Calibri" pitchFamily="34" charset="0"/>
                <a:ea typeface="Calibri" pitchFamily="34" charset="-122"/>
                <a:cs typeface="Calibri" pitchFamily="34" charset="-120"/>
              </a:rPr>
              <a:t>RECOMMENDATIONS</a:t>
            </a:r>
            <a:endParaRPr lang="en-US" sz="1300" dirty="0"/>
          </a:p>
        </p:txBody>
      </p:sp>
      <p:sp>
        <p:nvSpPr>
          <p:cNvPr id="5" name="Text 3"/>
          <p:cNvSpPr/>
          <p:nvPr/>
        </p:nvSpPr>
        <p:spPr>
          <a:xfrm>
            <a:off x="548640" y="804672"/>
            <a:ext cx="105156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Recommendations</a:t>
            </a:r>
            <a:endParaRPr lang="en-US" sz="3000" dirty="0"/>
          </a:p>
        </p:txBody>
      </p:sp>
      <p:sp>
        <p:nvSpPr>
          <p:cNvPr id="6" name="Shape 4"/>
          <p:cNvSpPr/>
          <p:nvPr/>
        </p:nvSpPr>
        <p:spPr>
          <a:xfrm>
            <a:off x="548640" y="1783080"/>
            <a:ext cx="3575304" cy="3017520"/>
          </a:xfrm>
          <a:prstGeom prst="roundRect">
            <a:avLst>
              <a:gd name="adj" fmla="val 3636"/>
            </a:avLst>
          </a:prstGeom>
          <a:solidFill>
            <a:srgbClr val="FFFFFF"/>
          </a:solidFill>
          <a:ln/>
          <a:effectLst>
            <a:outerShdw sx="100000" sy="100000" kx="0" ky="0" algn="bl" rotWithShape="0" blurRad="152400" dist="63500" dir="5400000">
              <a:srgbClr val="000000">
                <a:alpha val="20000"/>
              </a:srgbClr>
            </a:outerShdw>
          </a:effectLst>
        </p:spPr>
      </p:sp>
      <p:sp>
        <p:nvSpPr>
          <p:cNvPr id="7" name="Shape 5"/>
          <p:cNvSpPr/>
          <p:nvPr/>
        </p:nvSpPr>
        <p:spPr>
          <a:xfrm>
            <a:off x="841248" y="2075688"/>
            <a:ext cx="640080" cy="640080"/>
          </a:xfrm>
          <a:prstGeom prst="ellipse">
            <a:avLst/>
          </a:prstGeom>
          <a:solidFill>
            <a:srgbClr val="F96167"/>
          </a:solidFill>
          <a:ln/>
        </p:spPr>
      </p:sp>
      <p:pic>
        <p:nvPicPr>
          <p:cNvPr id="8" name="Image 0" descr="preencoded.png"/>
          <p:cNvPicPr>
            <a:picLocks noChangeAspect="1"/>
          </p:cNvPicPr>
          <p:nvPr/>
        </p:nvPicPr>
        <p:blipFill>
          <a:blip r:embed="rId1"/>
          <a:stretch>
            <a:fillRect/>
          </a:stretch>
        </p:blipFill>
        <p:spPr>
          <a:xfrm>
            <a:off x="1005840" y="2240280"/>
            <a:ext cx="310896" cy="310896"/>
          </a:xfrm>
          <a:prstGeom prst="rect">
            <a:avLst/>
          </a:prstGeom>
        </p:spPr>
      </p:pic>
      <p:sp>
        <p:nvSpPr>
          <p:cNvPr id="9" name="Text 6"/>
          <p:cNvSpPr/>
          <p:nvPr/>
        </p:nvSpPr>
        <p:spPr>
          <a:xfrm>
            <a:off x="841248" y="2880360"/>
            <a:ext cx="2990088" cy="548640"/>
          </a:xfrm>
          <a:prstGeom prst="rect">
            <a:avLst/>
          </a:prstGeom>
          <a:noFill/>
          <a:ln/>
        </p:spPr>
        <p:txBody>
          <a:bodyPr wrap="square" lIns="0" tIns="0" rIns="0" bIns="0" rtlCol="0" anchor="ctr"/>
          <a:lstStyle/>
          <a:p>
            <a:pPr indent="0" marL="0">
              <a:lnSpc>
                <a:spcPct val="105000"/>
              </a:lnSpc>
              <a:buNone/>
            </a:pPr>
            <a:r>
              <a:rPr lang="en-US" sz="1700" b="1" dirty="0">
                <a:solidFill>
                  <a:srgbClr val="232C5E"/>
                </a:solidFill>
                <a:latin typeface="Cambria" pitchFamily="34" charset="0"/>
                <a:ea typeface="Cambria" pitchFamily="34" charset="-122"/>
                <a:cs typeface="Cambria" pitchFamily="34" charset="-120"/>
              </a:rPr>
              <a:t>Prioritize Three Markets</a:t>
            </a:r>
            <a:endParaRPr lang="en-US" sz="1700" dirty="0"/>
          </a:p>
        </p:txBody>
      </p:sp>
      <p:sp>
        <p:nvSpPr>
          <p:cNvPr id="10" name="Text 7"/>
          <p:cNvSpPr/>
          <p:nvPr/>
        </p:nvSpPr>
        <p:spPr>
          <a:xfrm>
            <a:off x="841248" y="3474720"/>
            <a:ext cx="2990088" cy="1188720"/>
          </a:xfrm>
          <a:prstGeom prst="rect">
            <a:avLst/>
          </a:prstGeom>
          <a:noFill/>
          <a:ln/>
        </p:spPr>
        <p:txBody>
          <a:bodyPr wrap="square" lIns="0" tIns="0" rIns="0" bIns="0" rtlCol="0" anchor="t"/>
          <a:lstStyle/>
          <a:p>
            <a:pPr indent="0" marL="0">
              <a:lnSpc>
                <a:spcPct val="125000"/>
              </a:lnSpc>
              <a:buNone/>
            </a:pPr>
            <a:r>
              <a:rPr lang="en-US" sz="1300" dirty="0">
                <a:solidFill>
                  <a:srgbClr val="26293D"/>
                </a:solidFill>
                <a:latin typeface="Calibri" pitchFamily="34" charset="0"/>
                <a:ea typeface="Calibri" pitchFamily="34" charset="-122"/>
                <a:cs typeface="Calibri" pitchFamily="34" charset="-120"/>
              </a:rPr>
              <a:t>Philippines, Turkey, and New Zealand combine low competition with strong ratings and pricing potential.</a:t>
            </a:r>
            <a:endParaRPr lang="en-US" sz="1300" dirty="0"/>
          </a:p>
        </p:txBody>
      </p:sp>
      <p:sp>
        <p:nvSpPr>
          <p:cNvPr id="11" name="Shape 8"/>
          <p:cNvSpPr/>
          <p:nvPr/>
        </p:nvSpPr>
        <p:spPr>
          <a:xfrm>
            <a:off x="4306824" y="1783080"/>
            <a:ext cx="3575304" cy="3017520"/>
          </a:xfrm>
          <a:prstGeom prst="roundRect">
            <a:avLst>
              <a:gd name="adj" fmla="val 3636"/>
            </a:avLst>
          </a:prstGeom>
          <a:solidFill>
            <a:srgbClr val="FFFFFF"/>
          </a:solidFill>
          <a:ln/>
          <a:effectLst>
            <a:outerShdw sx="100000" sy="100000" kx="0" ky="0" algn="bl" rotWithShape="0" blurRad="152400" dist="63500" dir="5400000">
              <a:srgbClr val="000000">
                <a:alpha val="20000"/>
              </a:srgbClr>
            </a:outerShdw>
          </a:effectLst>
        </p:spPr>
      </p:sp>
      <p:sp>
        <p:nvSpPr>
          <p:cNvPr id="12" name="Shape 9"/>
          <p:cNvSpPr/>
          <p:nvPr/>
        </p:nvSpPr>
        <p:spPr>
          <a:xfrm>
            <a:off x="4599432" y="2075688"/>
            <a:ext cx="640080" cy="640080"/>
          </a:xfrm>
          <a:prstGeom prst="ellipse">
            <a:avLst/>
          </a:prstGeom>
          <a:solidFill>
            <a:srgbClr val="F96167"/>
          </a:solidFill>
          <a:ln/>
        </p:spPr>
      </p:sp>
      <p:pic>
        <p:nvPicPr>
          <p:cNvPr id="13" name="Image 1" descr="preencoded.png"/>
          <p:cNvPicPr>
            <a:picLocks noChangeAspect="1"/>
          </p:cNvPicPr>
          <p:nvPr/>
        </p:nvPicPr>
        <p:blipFill>
          <a:blip r:embed="rId2"/>
          <a:stretch>
            <a:fillRect/>
          </a:stretch>
        </p:blipFill>
        <p:spPr>
          <a:xfrm>
            <a:off x="4764024" y="2240280"/>
            <a:ext cx="310896" cy="310896"/>
          </a:xfrm>
          <a:prstGeom prst="rect">
            <a:avLst/>
          </a:prstGeom>
        </p:spPr>
      </p:pic>
      <p:sp>
        <p:nvSpPr>
          <p:cNvPr id="14" name="Text 10"/>
          <p:cNvSpPr/>
          <p:nvPr/>
        </p:nvSpPr>
        <p:spPr>
          <a:xfrm>
            <a:off x="4599432" y="2880360"/>
            <a:ext cx="2990088" cy="548640"/>
          </a:xfrm>
          <a:prstGeom prst="rect">
            <a:avLst/>
          </a:prstGeom>
          <a:noFill/>
          <a:ln/>
        </p:spPr>
        <p:txBody>
          <a:bodyPr wrap="square" lIns="0" tIns="0" rIns="0" bIns="0" rtlCol="0" anchor="ctr"/>
          <a:lstStyle/>
          <a:p>
            <a:pPr indent="0" marL="0">
              <a:lnSpc>
                <a:spcPct val="105000"/>
              </a:lnSpc>
              <a:buNone/>
            </a:pPr>
            <a:r>
              <a:rPr lang="en-US" sz="1700" b="1" dirty="0">
                <a:solidFill>
                  <a:srgbClr val="232C5E"/>
                </a:solidFill>
                <a:latin typeface="Cambria" pitchFamily="34" charset="0"/>
                <a:ea typeface="Cambria" pitchFamily="34" charset="-122"/>
                <a:cs typeface="Cambria" pitchFamily="34" charset="-120"/>
              </a:rPr>
              <a:t>Enable Delivery &amp; Booking</a:t>
            </a:r>
            <a:endParaRPr lang="en-US" sz="1700" dirty="0"/>
          </a:p>
        </p:txBody>
      </p:sp>
      <p:sp>
        <p:nvSpPr>
          <p:cNvPr id="15" name="Text 11"/>
          <p:cNvSpPr/>
          <p:nvPr/>
        </p:nvSpPr>
        <p:spPr>
          <a:xfrm>
            <a:off x="4599432" y="3474720"/>
            <a:ext cx="2990088" cy="1188720"/>
          </a:xfrm>
          <a:prstGeom prst="rect">
            <a:avLst/>
          </a:prstGeom>
          <a:noFill/>
          <a:ln/>
        </p:spPr>
        <p:txBody>
          <a:bodyPr wrap="square" lIns="0" tIns="0" rIns="0" bIns="0" rtlCol="0" anchor="t"/>
          <a:lstStyle/>
          <a:p>
            <a:pPr indent="0" marL="0">
              <a:lnSpc>
                <a:spcPct val="125000"/>
              </a:lnSpc>
              <a:buNone/>
            </a:pPr>
            <a:r>
              <a:rPr lang="en-US" sz="1300" dirty="0">
                <a:solidFill>
                  <a:srgbClr val="26293D"/>
                </a:solidFill>
                <a:latin typeface="Calibri" pitchFamily="34" charset="0"/>
                <a:ea typeface="Calibri" pitchFamily="34" charset="-122"/>
                <a:cs typeface="Calibri" pitchFamily="34" charset="-120"/>
              </a:rPr>
              <a:t>Both services correlate strongly with higher customer ratings — make them standard at launch.</a:t>
            </a:r>
            <a:endParaRPr lang="en-US" sz="1300" dirty="0"/>
          </a:p>
        </p:txBody>
      </p:sp>
      <p:sp>
        <p:nvSpPr>
          <p:cNvPr id="16" name="Shape 12"/>
          <p:cNvSpPr/>
          <p:nvPr/>
        </p:nvSpPr>
        <p:spPr>
          <a:xfrm>
            <a:off x="8065008" y="1783080"/>
            <a:ext cx="3575304" cy="3017520"/>
          </a:xfrm>
          <a:prstGeom prst="roundRect">
            <a:avLst>
              <a:gd name="adj" fmla="val 3636"/>
            </a:avLst>
          </a:prstGeom>
          <a:solidFill>
            <a:srgbClr val="FFFFFF"/>
          </a:solidFill>
          <a:ln/>
          <a:effectLst>
            <a:outerShdw sx="100000" sy="100000" kx="0" ky="0" algn="bl" rotWithShape="0" blurRad="152400" dist="63500" dir="5400000">
              <a:srgbClr val="000000">
                <a:alpha val="20000"/>
              </a:srgbClr>
            </a:outerShdw>
          </a:effectLst>
        </p:spPr>
      </p:sp>
      <p:sp>
        <p:nvSpPr>
          <p:cNvPr id="17" name="Shape 13"/>
          <p:cNvSpPr/>
          <p:nvPr/>
        </p:nvSpPr>
        <p:spPr>
          <a:xfrm>
            <a:off x="8357616" y="2075688"/>
            <a:ext cx="640080" cy="640080"/>
          </a:xfrm>
          <a:prstGeom prst="ellipse">
            <a:avLst/>
          </a:prstGeom>
          <a:solidFill>
            <a:srgbClr val="F96167"/>
          </a:solidFill>
          <a:ln/>
        </p:spPr>
      </p:sp>
      <p:pic>
        <p:nvPicPr>
          <p:cNvPr id="18" name="Image 2" descr="preencoded.png"/>
          <p:cNvPicPr>
            <a:picLocks noChangeAspect="1"/>
          </p:cNvPicPr>
          <p:nvPr/>
        </p:nvPicPr>
        <p:blipFill>
          <a:blip r:embed="rId3"/>
          <a:stretch>
            <a:fillRect/>
          </a:stretch>
        </p:blipFill>
        <p:spPr>
          <a:xfrm>
            <a:off x="8522208" y="2240280"/>
            <a:ext cx="310896" cy="310896"/>
          </a:xfrm>
          <a:prstGeom prst="rect">
            <a:avLst/>
          </a:prstGeom>
        </p:spPr>
      </p:pic>
      <p:sp>
        <p:nvSpPr>
          <p:cNvPr id="19" name="Text 14"/>
          <p:cNvSpPr/>
          <p:nvPr/>
        </p:nvSpPr>
        <p:spPr>
          <a:xfrm>
            <a:off x="8357616" y="2880360"/>
            <a:ext cx="2990088" cy="548640"/>
          </a:xfrm>
          <a:prstGeom prst="rect">
            <a:avLst/>
          </a:prstGeom>
          <a:noFill/>
          <a:ln/>
        </p:spPr>
        <p:txBody>
          <a:bodyPr wrap="square" lIns="0" tIns="0" rIns="0" bIns="0" rtlCol="0" anchor="ctr"/>
          <a:lstStyle/>
          <a:p>
            <a:pPr indent="0" marL="0">
              <a:lnSpc>
                <a:spcPct val="105000"/>
              </a:lnSpc>
              <a:buNone/>
            </a:pPr>
            <a:r>
              <a:rPr lang="en-US" sz="1700" b="1" dirty="0">
                <a:solidFill>
                  <a:srgbClr val="232C5E"/>
                </a:solidFill>
                <a:latin typeface="Cambria" pitchFamily="34" charset="0"/>
                <a:ea typeface="Cambria" pitchFamily="34" charset="-122"/>
                <a:cs typeface="Cambria" pitchFamily="34" charset="-120"/>
              </a:rPr>
              <a:t>Focus on Winning Cuisines</a:t>
            </a:r>
            <a:endParaRPr lang="en-US" sz="1700" dirty="0"/>
          </a:p>
        </p:txBody>
      </p:sp>
      <p:sp>
        <p:nvSpPr>
          <p:cNvPr id="20" name="Text 15"/>
          <p:cNvSpPr/>
          <p:nvPr/>
        </p:nvSpPr>
        <p:spPr>
          <a:xfrm>
            <a:off x="8357616" y="3474720"/>
            <a:ext cx="2990088" cy="1188720"/>
          </a:xfrm>
          <a:prstGeom prst="rect">
            <a:avLst/>
          </a:prstGeom>
          <a:noFill/>
          <a:ln/>
        </p:spPr>
        <p:txBody>
          <a:bodyPr wrap="square" lIns="0" tIns="0" rIns="0" bIns="0" rtlCol="0" anchor="t"/>
          <a:lstStyle/>
          <a:p>
            <a:pPr indent="0" marL="0">
              <a:lnSpc>
                <a:spcPct val="125000"/>
              </a:lnSpc>
              <a:buNone/>
            </a:pPr>
            <a:r>
              <a:rPr lang="en-US" sz="1300" dirty="0">
                <a:solidFill>
                  <a:srgbClr val="26293D"/>
                </a:solidFill>
                <a:latin typeface="Calibri" pitchFamily="34" charset="0"/>
                <a:ea typeface="Calibri" pitchFamily="34" charset="-122"/>
                <a:cs typeface="Calibri" pitchFamily="34" charset="-120"/>
              </a:rPr>
              <a:t>Lead with Continental, Italian, and Cafe formats; avoid oversaturated categories like North Indian.</a:t>
            </a:r>
            <a:endParaRPr lang="en-US" sz="1300" dirty="0"/>
          </a:p>
        </p:txBody>
      </p:sp>
      <p:sp>
        <p:nvSpPr>
          <p:cNvPr id="21" name="Shape 16"/>
          <p:cNvSpPr/>
          <p:nvPr/>
        </p:nvSpPr>
        <p:spPr>
          <a:xfrm>
            <a:off x="548640" y="5074920"/>
            <a:ext cx="11091672" cy="868680"/>
          </a:xfrm>
          <a:prstGeom prst="roundRect">
            <a:avLst>
              <a:gd name="adj" fmla="val 10526"/>
            </a:avLst>
          </a:prstGeom>
          <a:solidFill>
            <a:srgbClr val="2F3C7E"/>
          </a:solidFill>
          <a:ln/>
        </p:spPr>
      </p:sp>
      <p:pic>
        <p:nvPicPr>
          <p:cNvPr id="22" name="Image 3" descr="preencoded.png"/>
          <p:cNvPicPr>
            <a:picLocks noChangeAspect="1"/>
          </p:cNvPicPr>
          <p:nvPr/>
        </p:nvPicPr>
        <p:blipFill>
          <a:blip r:embed="rId4"/>
          <a:stretch>
            <a:fillRect/>
          </a:stretch>
        </p:blipFill>
        <p:spPr>
          <a:xfrm>
            <a:off x="804672" y="5330952"/>
            <a:ext cx="365760" cy="365760"/>
          </a:xfrm>
          <a:prstGeom prst="rect">
            <a:avLst/>
          </a:prstGeom>
        </p:spPr>
      </p:pic>
      <p:sp>
        <p:nvSpPr>
          <p:cNvPr id="23" name="Text 17"/>
          <p:cNvSpPr/>
          <p:nvPr/>
        </p:nvSpPr>
        <p:spPr>
          <a:xfrm>
            <a:off x="1325880" y="5166360"/>
            <a:ext cx="10085832" cy="685800"/>
          </a:xfrm>
          <a:prstGeom prst="rect">
            <a:avLst/>
          </a:prstGeom>
          <a:noFill/>
          <a:ln/>
        </p:spPr>
        <p:txBody>
          <a:bodyPr wrap="square" lIns="0" tIns="0" rIns="0" bIns="0" rtlCol="0" anchor="ctr"/>
          <a:lstStyle/>
          <a:p>
            <a:pPr indent="0" marL="0">
              <a:lnSpc>
                <a:spcPct val="115000"/>
              </a:lnSpc>
              <a:buNone/>
            </a:pPr>
            <a:r>
              <a:rPr lang="en-US" sz="1350" i="1" dirty="0">
                <a:solidFill>
                  <a:srgbClr val="FFFFFF"/>
                </a:solidFill>
                <a:latin typeface="Calibri" pitchFamily="34" charset="0"/>
                <a:ea typeface="Calibri" pitchFamily="34" charset="-122"/>
                <a:cs typeface="Calibri" pitchFamily="34" charset="-120"/>
              </a:rPr>
              <a:t>Together, these three actions form the launch playbook for entering each new market with confidence.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 Expansion Strategy</dc:title>
  <dc:subject>PptxGenJS Presentation</dc:subject>
  <dc:creator>Zomato Strategy Team</dc:creator>
  <cp:lastModifiedBy>Zomato Strategy Team</cp:lastModifiedBy>
  <cp:revision>1</cp:revision>
  <dcterms:created xsi:type="dcterms:W3CDTF">2026-06-28T07:36:23Z</dcterms:created>
  <dcterms:modified xsi:type="dcterms:W3CDTF">2026-06-28T07:36:23Z</dcterms:modified>
</cp:coreProperties>
</file>